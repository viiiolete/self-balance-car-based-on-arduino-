
<file path=[Content_Types].xml><?xml version="1.0" encoding="utf-8"?>
<Types xmlns="http://schemas.openxmlformats.org/package/2006/content-types">
  <Default Extension="jpeg" ContentType="image/jpeg"/>
  <Default Extension="JPG" ContentType="image/.jpg"/>
  <Default Extension="png" ContentType="image/pn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docProps/custom.xml" ContentType="application/vnd.openxmlformats-officedocument.custom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tableStyles.xml" ContentType="application/vnd.openxmlformats-officedocument.presentationml.tableStyles+xml"/>
  <Override PartName="/ppt/tags/tag1.xml" ContentType="application/vnd.openxmlformats-officedocument.presentationml.tag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"1.0" encoding="UTF-8" standalone="yes"?>
<Relationships xmlns="http://schemas.openxmlformats.org/package/2006/relationships"><Relationship Id="rId1" Type="http://schemas.openxmlformats.org/officeDocument/2006/relationships/officeDocument" Target="ppt/presentation.xml"/><Relationship Id="rId4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2" Type="http://schemas.openxmlformats.org/officeDocument/2006/relationships/extended-properties" Target="docProps/app.xml"/><Relationship Id="rId5" Type="http://schemas.openxmlformats.org/officeDocument/2006/relationships/custom-properties" Target="docProps/custom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>
  <p:sldMasterIdLst>
    <p:sldMasterId id="2147483648" r:id="rId1"/>
  </p:sldMasterIdLst>
  <p:sldIdLst>
    <p:sldId id="256" r:id="rId3"/>
    <p:sldId id="261" r:id="rId4"/>
    <p:sldId id="257" r:id="rId5"/>
    <p:sldId id="258" r:id="rId6"/>
    <p:sldId id="260" r:id="rId7"/>
    <p:sldId id="259" r:id="rId8"/>
    <p:sldId id="262" r:id="rId9"/>
    <p:sldId id="264" r:id="rId10"/>
    <p:sldId id="263" r:id="rId11"/>
  </p:sldIdLst>
  <p:sldSz cx="12192000" cy="6858000"/>
  <p:notesSz cx="6858000" cy="9144000"/>
  <p:defaultTextStyle>
    <a:defPPr>
      <a:defRPr lang="en-US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>
        <p15:guide id="1" orient="horz" pos="2160" userDrawn="1">
          <p15:clr>
            <a:srgbClr val="A4A3A4"/>
          </p15:clr>
        </p15:guide>
        <p15:guide id="2" pos="3840" userDrawn="1">
          <p15:clr>
            <a:srgbClr val="A4A3A4"/>
          </p15:clr>
        </p15:guide>
      </p15:sldGuideLst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5981" autoAdjust="0"/>
    <p:restoredTop sz="94660"/>
  </p:normalViewPr>
  <p:slideViewPr>
    <p:cSldViewPr snapToGrid="0" showGuides="1">
      <p:cViewPr varScale="1">
        <p:scale>
          <a:sx n="53" d="100"/>
          <a:sy n="53" d="100"/>
        </p:scale>
        <p:origin x="180" y="54"/>
      </p:cViewPr>
      <p:guideLst>
        <p:guide orient="horz" pos="2160"/>
        <p:guide pos="3840"/>
      </p:guideLst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9" Type="http://schemas.openxmlformats.org/officeDocument/2006/relationships/slide" Target="slides/slide7.xml"/><Relationship Id="rId8" Type="http://schemas.openxmlformats.org/officeDocument/2006/relationships/slide" Target="slides/slide6.xml"/><Relationship Id="rId7" Type="http://schemas.openxmlformats.org/officeDocument/2006/relationships/slide" Target="slides/slide5.xml"/><Relationship Id="rId6" Type="http://schemas.openxmlformats.org/officeDocument/2006/relationships/slide" Target="slides/slide4.xml"/><Relationship Id="rId5" Type="http://schemas.openxmlformats.org/officeDocument/2006/relationships/slide" Target="slides/slide3.xml"/><Relationship Id="rId4" Type="http://schemas.openxmlformats.org/officeDocument/2006/relationships/slide" Target="slides/slide2.xml"/><Relationship Id="rId3" Type="http://schemas.openxmlformats.org/officeDocument/2006/relationships/slide" Target="slides/slide1.xml"/><Relationship Id="rId2" Type="http://schemas.openxmlformats.org/officeDocument/2006/relationships/theme" Target="theme/theme1.xml"/><Relationship Id="rId14" Type="http://schemas.openxmlformats.org/officeDocument/2006/relationships/tableStyles" Target="tableStyles.xml"/><Relationship Id="rId13" Type="http://schemas.openxmlformats.org/officeDocument/2006/relationships/viewProps" Target="viewProps.xml"/><Relationship Id="rId12" Type="http://schemas.openxmlformats.org/officeDocument/2006/relationships/presProps" Target="presProps.xml"/><Relationship Id="rId11" Type="http://schemas.openxmlformats.org/officeDocument/2006/relationships/slide" Target="slides/slide9.xml"/><Relationship Id="rId10" Type="http://schemas.openxmlformats.org/officeDocument/2006/relationships/slide" Target="slides/slide8.xml"/><Relationship Id="rId1" Type="http://schemas.openxmlformats.org/officeDocument/2006/relationships/slideMaster" Target="slideMasters/slideMaster1.xml"/></Relationship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1524000" y="1122363"/>
            <a:ext cx="9144000" cy="2387600"/>
          </a:xfrm>
        </p:spPr>
        <p:txBody>
          <a:bodyPr anchor="b"/>
          <a:lstStyle>
            <a:lvl1pPr algn="ctr">
              <a:defRPr sz="6000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524000" y="3602038"/>
            <a:ext cx="9144000" cy="1655762"/>
          </a:xfrm>
        </p:spPr>
        <p:txBody>
          <a:bodyPr/>
          <a:lstStyle>
            <a:lvl1pPr marL="0" indent="0" algn="ctr">
              <a:buNone/>
              <a:defRPr sz="2400"/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63A1C593-65D0-4073-BCC9-577B9352EA97}" type="datetimeFigureOut">
              <a:rPr lang="en-US" smtClean="0"/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9B618960-8005-486C-9A75-10CB2AAC16F9}" type="slidenum">
              <a:rPr lang="en-US" smtClean="0"/>
            </a:fld>
            <a:endParaRPr lang="en-US"/>
          </a:p>
        </p:txBody>
      </p:sp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  <a:endParaRPr lang="en-US" smtClean="0"/>
          </a:p>
          <a:p>
            <a:pPr lvl="1"/>
            <a:r>
              <a:rPr lang="en-US" smtClean="0"/>
              <a:t>Second level</a:t>
            </a:r>
            <a:endParaRPr lang="en-US" smtClean="0"/>
          </a:p>
          <a:p>
            <a:pPr lvl="2"/>
            <a:r>
              <a:rPr lang="en-US" smtClean="0"/>
              <a:t>Third level</a:t>
            </a:r>
            <a:endParaRPr lang="en-US" smtClean="0"/>
          </a:p>
          <a:p>
            <a:pPr lvl="3"/>
            <a:r>
              <a:rPr lang="en-US" smtClean="0"/>
              <a:t>Fourth level</a:t>
            </a:r>
            <a:endParaRPr lang="en-US" smtClean="0"/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63A1C593-65D0-4073-BCC9-577B9352EA97}" type="datetimeFigureOut">
              <a:rPr lang="en-US" smtClean="0"/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9B618960-8005-486C-9A75-10CB2AAC16F9}" type="slidenum">
              <a:rPr lang="en-US" smtClean="0"/>
            </a:fld>
            <a:endParaRPr lang="en-US"/>
          </a:p>
        </p:txBody>
      </p:sp>
    </p:spTree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831850" y="1709738"/>
            <a:ext cx="10515600" cy="2852737"/>
          </a:xfrm>
        </p:spPr>
        <p:txBody>
          <a:bodyPr anchor="b"/>
          <a:lstStyle>
            <a:lvl1pPr>
              <a:defRPr sz="6000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831850" y="4589463"/>
            <a:ext cx="10515600" cy="1500187"/>
          </a:xfrm>
        </p:spPr>
        <p:txBody>
          <a:bodyPr/>
          <a:lstStyle>
            <a:lvl1pPr marL="0" indent="0">
              <a:buNone/>
              <a:defRPr sz="24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  <a:endParaRPr lang="en-US" smtClean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63A1C593-65D0-4073-BCC9-577B9352EA97}" type="datetimeFigureOut">
              <a:rPr lang="en-US" smtClean="0"/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9B618960-8005-486C-9A75-10CB2AAC16F9}" type="slidenum">
              <a:rPr lang="en-US" smtClean="0"/>
            </a:fld>
            <a:endParaRPr lang="en-US"/>
          </a:p>
        </p:txBody>
      </p:sp>
    </p:spTree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838200" y="1825625"/>
            <a:ext cx="5181600" cy="4351338"/>
          </a:xfrm>
        </p:spPr>
        <p:txBody>
          <a:bodyPr/>
          <a:lstStyle/>
          <a:p>
            <a:pPr lvl="0"/>
            <a:r>
              <a:rPr lang="en-US" smtClean="0"/>
              <a:t>Click to edit Master text styles</a:t>
            </a:r>
            <a:endParaRPr lang="en-US" smtClean="0"/>
          </a:p>
          <a:p>
            <a:pPr lvl="1"/>
            <a:r>
              <a:rPr lang="en-US" smtClean="0"/>
              <a:t>Second level</a:t>
            </a:r>
            <a:endParaRPr lang="en-US" smtClean="0"/>
          </a:p>
          <a:p>
            <a:pPr lvl="2"/>
            <a:r>
              <a:rPr lang="en-US" smtClean="0"/>
              <a:t>Third level</a:t>
            </a:r>
            <a:endParaRPr lang="en-US" smtClean="0"/>
          </a:p>
          <a:p>
            <a:pPr lvl="3"/>
            <a:r>
              <a:rPr lang="en-US" smtClean="0"/>
              <a:t>Fourth level</a:t>
            </a:r>
            <a:endParaRPr lang="en-US" smtClean="0"/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6172200" y="1825625"/>
            <a:ext cx="5181600" cy="4351338"/>
          </a:xfrm>
        </p:spPr>
        <p:txBody>
          <a:bodyPr/>
          <a:lstStyle/>
          <a:p>
            <a:pPr lvl="0"/>
            <a:r>
              <a:rPr lang="en-US" smtClean="0"/>
              <a:t>Click to edit Master text styles</a:t>
            </a:r>
            <a:endParaRPr lang="en-US" smtClean="0"/>
          </a:p>
          <a:p>
            <a:pPr lvl="1"/>
            <a:r>
              <a:rPr lang="en-US" smtClean="0"/>
              <a:t>Second level</a:t>
            </a:r>
            <a:endParaRPr lang="en-US" smtClean="0"/>
          </a:p>
          <a:p>
            <a:pPr lvl="2"/>
            <a:r>
              <a:rPr lang="en-US" smtClean="0"/>
              <a:t>Third level</a:t>
            </a:r>
            <a:endParaRPr lang="en-US" smtClean="0"/>
          </a:p>
          <a:p>
            <a:pPr lvl="3"/>
            <a:r>
              <a:rPr lang="en-US" smtClean="0"/>
              <a:t>Fourth level</a:t>
            </a:r>
            <a:endParaRPr lang="en-US" smtClean="0"/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63A1C593-65D0-4073-BCC9-577B9352EA97}" type="datetimeFigureOut">
              <a:rPr lang="en-US" smtClean="0"/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9B618960-8005-486C-9A75-10CB2AAC16F9}" type="slidenum">
              <a:rPr lang="en-US" smtClean="0"/>
            </a:fld>
            <a:endParaRPr lang="en-US"/>
          </a:p>
        </p:txBody>
      </p:sp>
    </p:spTree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839788" y="365125"/>
            <a:ext cx="10515600" cy="1325563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839788" y="1681163"/>
            <a:ext cx="5157787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  <a:endParaRPr lang="en-US" smtClean="0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839788" y="2505075"/>
            <a:ext cx="5157787" cy="3684588"/>
          </a:xfrm>
        </p:spPr>
        <p:txBody>
          <a:bodyPr/>
          <a:lstStyle/>
          <a:p>
            <a:pPr lvl="0"/>
            <a:r>
              <a:rPr lang="en-US" smtClean="0"/>
              <a:t>Click to edit Master text styles</a:t>
            </a:r>
            <a:endParaRPr lang="en-US" smtClean="0"/>
          </a:p>
          <a:p>
            <a:pPr lvl="1"/>
            <a:r>
              <a:rPr lang="en-US" smtClean="0"/>
              <a:t>Second level</a:t>
            </a:r>
            <a:endParaRPr lang="en-US" smtClean="0"/>
          </a:p>
          <a:p>
            <a:pPr lvl="2"/>
            <a:r>
              <a:rPr lang="en-US" smtClean="0"/>
              <a:t>Third level</a:t>
            </a:r>
            <a:endParaRPr lang="en-US" smtClean="0"/>
          </a:p>
          <a:p>
            <a:pPr lvl="3"/>
            <a:r>
              <a:rPr lang="en-US" smtClean="0"/>
              <a:t>Fourth level</a:t>
            </a:r>
            <a:endParaRPr lang="en-US" smtClean="0"/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6172200" y="1681163"/>
            <a:ext cx="5183188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  <a:endParaRPr lang="en-US" smtClean="0"/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6172200" y="2505075"/>
            <a:ext cx="5183188" cy="3684588"/>
          </a:xfrm>
        </p:spPr>
        <p:txBody>
          <a:bodyPr/>
          <a:lstStyle/>
          <a:p>
            <a:pPr lvl="0"/>
            <a:r>
              <a:rPr lang="en-US" smtClean="0"/>
              <a:t>Click to edit Master text styles</a:t>
            </a:r>
            <a:endParaRPr lang="en-US" smtClean="0"/>
          </a:p>
          <a:p>
            <a:pPr lvl="1"/>
            <a:r>
              <a:rPr lang="en-US" smtClean="0"/>
              <a:t>Second level</a:t>
            </a:r>
            <a:endParaRPr lang="en-US" smtClean="0"/>
          </a:p>
          <a:p>
            <a:pPr lvl="2"/>
            <a:r>
              <a:rPr lang="en-US" smtClean="0"/>
              <a:t>Third level</a:t>
            </a:r>
            <a:endParaRPr lang="en-US" smtClean="0"/>
          </a:p>
          <a:p>
            <a:pPr lvl="3"/>
            <a:r>
              <a:rPr lang="en-US" smtClean="0"/>
              <a:t>Fourth level</a:t>
            </a:r>
            <a:endParaRPr lang="en-US" smtClean="0"/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63A1C593-65D0-4073-BCC9-577B9352EA97}" type="datetimeFigureOut">
              <a:rPr lang="en-US" smtClean="0"/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9B618960-8005-486C-9A75-10CB2AAC16F9}" type="slidenum">
              <a:rPr lang="en-US" smtClean="0"/>
            </a:fld>
            <a:endParaRPr lang="en-US"/>
          </a:p>
        </p:txBody>
      </p:sp>
    </p:spTree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63A1C593-65D0-4073-BCC9-577B9352EA97}" type="datetimeFigureOut">
              <a:rPr lang="en-US" smtClean="0"/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9B618960-8005-486C-9A75-10CB2AAC16F9}" type="slidenum">
              <a:rPr lang="en-US" smtClean="0"/>
            </a:fld>
            <a:endParaRPr lang="en-US"/>
          </a:p>
        </p:txBody>
      </p:sp>
    </p:spTree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63A1C593-65D0-4073-BCC9-577B9352EA97}" type="datetimeFigureOut">
              <a:rPr lang="en-US" smtClean="0"/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9B618960-8005-486C-9A75-10CB2AAC16F9}" type="slidenum">
              <a:rPr lang="en-US" smtClean="0"/>
            </a:fld>
            <a:endParaRPr lang="en-US"/>
          </a:p>
        </p:txBody>
      </p:sp>
    </p:spTree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  <a:endParaRPr lang="en-US" smtClean="0"/>
          </a:p>
          <a:p>
            <a:pPr lvl="1"/>
            <a:r>
              <a:rPr lang="en-US" smtClean="0"/>
              <a:t>Second level</a:t>
            </a:r>
            <a:endParaRPr lang="en-US" smtClean="0"/>
          </a:p>
          <a:p>
            <a:pPr lvl="2"/>
            <a:r>
              <a:rPr lang="en-US" smtClean="0"/>
              <a:t>Third level</a:t>
            </a:r>
            <a:endParaRPr lang="en-US" smtClean="0"/>
          </a:p>
          <a:p>
            <a:pPr lvl="3"/>
            <a:r>
              <a:rPr lang="en-US" smtClean="0"/>
              <a:t>Fourth level</a:t>
            </a:r>
            <a:endParaRPr lang="en-US" smtClean="0"/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 smtClean="0"/>
              <a:t>Click to edit Master text styles</a:t>
            </a:r>
            <a:endParaRPr lang="en-US" smtClean="0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63A1C593-65D0-4073-BCC9-577B9352EA97}" type="datetimeFigureOut">
              <a:rPr lang="en-US" smtClean="0"/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9B618960-8005-486C-9A75-10CB2AAC16F9}" type="slidenum">
              <a:rPr lang="en-US" smtClean="0"/>
            </a:fld>
            <a:endParaRPr lang="en-US"/>
          </a:p>
        </p:txBody>
      </p:sp>
    </p:spTree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 smtClean="0"/>
              <a:t>Click to edit Master text styles</a:t>
            </a:r>
            <a:endParaRPr lang="en-US" smtClean="0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63A1C593-65D0-4073-BCC9-577B9352EA97}" type="datetimeFigureOut">
              <a:rPr lang="en-US" smtClean="0"/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9B618960-8005-486C-9A75-10CB2AAC16F9}" type="slidenum">
              <a:rPr lang="en-US" smtClean="0"/>
            </a:fld>
            <a:endParaRPr lang="en-US"/>
          </a:p>
        </p:txBody>
      </p:sp>
    </p:spTree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  <a:endParaRPr lang="en-US" smtClean="0"/>
          </a:p>
          <a:p>
            <a:pPr lvl="1"/>
            <a:r>
              <a:rPr lang="en-US" smtClean="0"/>
              <a:t>Second level</a:t>
            </a:r>
            <a:endParaRPr lang="en-US" smtClean="0"/>
          </a:p>
          <a:p>
            <a:pPr lvl="2"/>
            <a:r>
              <a:rPr lang="en-US" smtClean="0"/>
              <a:t>Third level</a:t>
            </a:r>
            <a:endParaRPr lang="en-US" smtClean="0"/>
          </a:p>
          <a:p>
            <a:pPr lvl="3"/>
            <a:r>
              <a:rPr lang="en-US" smtClean="0"/>
              <a:t>Fourth level</a:t>
            </a:r>
            <a:endParaRPr lang="en-US" smtClean="0"/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63A1C593-65D0-4073-BCC9-577B9352EA97}" type="datetimeFigureOut">
              <a:rPr lang="en-US" smtClean="0"/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9B618960-8005-486C-9A75-10CB2AAC16F9}" type="slidenum">
              <a:rPr lang="en-US" smtClean="0"/>
            </a:fld>
            <a:endParaRPr lang="en-US"/>
          </a:p>
        </p:txBody>
      </p:sp>
    </p:spTree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8724900" y="365125"/>
            <a:ext cx="2628900" cy="5811838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838200" y="365125"/>
            <a:ext cx="7734300" cy="5811838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  <a:endParaRPr lang="en-US" smtClean="0"/>
          </a:p>
          <a:p>
            <a:pPr lvl="1"/>
            <a:r>
              <a:rPr lang="en-US" smtClean="0"/>
              <a:t>Second level</a:t>
            </a:r>
            <a:endParaRPr lang="en-US" smtClean="0"/>
          </a:p>
          <a:p>
            <a:pPr lvl="2"/>
            <a:r>
              <a:rPr lang="en-US" smtClean="0"/>
              <a:t>Third level</a:t>
            </a:r>
            <a:endParaRPr lang="en-US" smtClean="0"/>
          </a:p>
          <a:p>
            <a:pPr lvl="3"/>
            <a:r>
              <a:rPr lang="en-US" smtClean="0"/>
              <a:t>Fourth level</a:t>
            </a:r>
            <a:endParaRPr lang="en-US" smtClean="0"/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63A1C593-65D0-4073-BCC9-577B9352EA97}" type="datetimeFigureOut">
              <a:rPr lang="en-US" smtClean="0"/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9B618960-8005-486C-9A75-10CB2AAC16F9}" type="slidenum">
              <a:rPr lang="en-US" smtClean="0"/>
            </a:fld>
            <a:endParaRPr lang="en-US"/>
          </a:p>
        </p:txBody>
      </p:sp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9" Type="http://schemas.openxmlformats.org/officeDocument/2006/relationships/slideLayout" Target="../slideLayouts/slideLayout9.xml"/><Relationship Id="rId8" Type="http://schemas.openxmlformats.org/officeDocument/2006/relationships/slideLayout" Target="../slideLayouts/slideLayout8.xml"/><Relationship Id="rId7" Type="http://schemas.openxmlformats.org/officeDocument/2006/relationships/slideLayout" Target="../slideLayouts/slideLayout7.xml"/><Relationship Id="rId6" Type="http://schemas.openxmlformats.org/officeDocument/2006/relationships/slideLayout" Target="../slideLayouts/slideLayout6.xml"/><Relationship Id="rId5" Type="http://schemas.openxmlformats.org/officeDocument/2006/relationships/slideLayout" Target="../slideLayouts/slideLayout5.xml"/><Relationship Id="rId4" Type="http://schemas.openxmlformats.org/officeDocument/2006/relationships/slideLayout" Target="../slideLayouts/slideLayout4.xml"/><Relationship Id="rId3" Type="http://schemas.openxmlformats.org/officeDocument/2006/relationships/slideLayout" Target="../slideLayouts/slideLayout3.xml"/><Relationship Id="rId2" Type="http://schemas.openxmlformats.org/officeDocument/2006/relationships/slideLayout" Target="../slideLayouts/slideLayout2.xml"/><Relationship Id="rId12" Type="http://schemas.openxmlformats.org/officeDocument/2006/relationships/theme" Target="../theme/theme1.xml"/><Relationship Id="rId11" Type="http://schemas.openxmlformats.org/officeDocument/2006/relationships/slideLayout" Target="../slideLayouts/slideLayout11.xml"/><Relationship Id="rId10" Type="http://schemas.openxmlformats.org/officeDocument/2006/relationships/slideLayout" Target="../slideLayouts/slideLayout10.xml"/><Relationship Id="rId1" Type="http://schemas.openxmlformats.org/officeDocument/2006/relationships/slideLayout" Target="../slideLayouts/slideLayout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838200" y="1825625"/>
            <a:ext cx="10515600" cy="4351338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  <a:endParaRPr lang="en-US" smtClean="0"/>
          </a:p>
          <a:p>
            <a:pPr lvl="1"/>
            <a:r>
              <a:rPr lang="en-US" smtClean="0"/>
              <a:t>Second level</a:t>
            </a:r>
            <a:endParaRPr lang="en-US" smtClean="0"/>
          </a:p>
          <a:p>
            <a:pPr lvl="2"/>
            <a:r>
              <a:rPr lang="en-US" smtClean="0"/>
              <a:t>Third level</a:t>
            </a:r>
            <a:endParaRPr lang="en-US" smtClean="0"/>
          </a:p>
          <a:p>
            <a:pPr lvl="3"/>
            <a:r>
              <a:rPr lang="en-US" smtClean="0"/>
              <a:t>Fourth level</a:t>
            </a:r>
            <a:endParaRPr lang="en-US" smtClean="0"/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63A1C593-65D0-4073-BCC9-577B9352EA97}" type="datetimeFigureOut">
              <a:rPr lang="en-US" smtClean="0"/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9B618960-8005-486C-9A75-10CB2AAC16F9}" type="slidenum">
              <a:rPr lang="en-US" smtClean="0"/>
            </a:fld>
            <a:endParaRPr lang="en-US"/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l" defTabSz="914400" rtl="0" eaLnBrk="1" latinLnBrk="0" hangingPunct="1">
        <a:lnSpc>
          <a:spcPct val="90000"/>
        </a:lnSpc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0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sz="2800" kern="1200">
          <a:solidFill>
            <a:schemeClr val="tx1"/>
          </a:solidFill>
          <a:latin typeface="+mn-lt"/>
          <a:ea typeface="+mn-ea"/>
          <a:cs typeface="+mn-cs"/>
        </a:defRPr>
      </a:lvl1pPr>
      <a:lvl2pPr marL="685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2" Type="http://schemas.openxmlformats.org/officeDocument/2006/relationships/slideLayout" Target="../slideLayouts/slideLayout1.xml"/><Relationship Id="rId1" Type="http://schemas.openxmlformats.org/officeDocument/2006/relationships/image" Target="../media/image1.jpeg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3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2.xml"/><Relationship Id="rId7" Type="http://schemas.openxmlformats.org/officeDocument/2006/relationships/image" Target="../media/image8.jpeg"/><Relationship Id="rId6" Type="http://schemas.openxmlformats.org/officeDocument/2006/relationships/image" Target="../media/image7.jpeg"/><Relationship Id="rId5" Type="http://schemas.openxmlformats.org/officeDocument/2006/relationships/image" Target="../media/image6.jpeg"/><Relationship Id="rId4" Type="http://schemas.openxmlformats.org/officeDocument/2006/relationships/image" Target="../media/image5.jpeg"/><Relationship Id="rId3" Type="http://schemas.openxmlformats.org/officeDocument/2006/relationships/image" Target="../media/image4.jpeg"/><Relationship Id="rId2" Type="http://schemas.openxmlformats.org/officeDocument/2006/relationships/image" Target="../media/image3.jpeg"/><Relationship Id="rId1" Type="http://schemas.openxmlformats.org/officeDocument/2006/relationships/image" Target="../media/image2.png"/></Relationships>
</file>

<file path=ppt/slides/_rels/slide4.xml.rels><?xml version="1.0" encoding="UTF-8" standalone="yes"?>
<Relationships xmlns="http://schemas.openxmlformats.org/package/2006/relationships"><Relationship Id="rId2" Type="http://schemas.openxmlformats.org/officeDocument/2006/relationships/slideLayout" Target="../slideLayouts/slideLayout2.xml"/><Relationship Id="rId1" Type="http://schemas.openxmlformats.org/officeDocument/2006/relationships/image" Target="../media/image9.png"/></Relationships>
</file>

<file path=ppt/slides/_rels/slide5.xml.rels><?xml version="1.0" encoding="UTF-8" standalone="yes"?>
<Relationships xmlns="http://schemas.openxmlformats.org/package/2006/relationships"><Relationship Id="rId4" Type="http://schemas.openxmlformats.org/officeDocument/2006/relationships/slideLayout" Target="../slideLayouts/slideLayout2.xml"/><Relationship Id="rId3" Type="http://schemas.openxmlformats.org/officeDocument/2006/relationships/image" Target="../media/image12.png"/><Relationship Id="rId2" Type="http://schemas.openxmlformats.org/officeDocument/2006/relationships/image" Target="../media/image11.png"/><Relationship Id="rId1" Type="http://schemas.openxmlformats.org/officeDocument/2006/relationships/image" Target="../media/image10.png"/></Relationships>
</file>

<file path=ppt/slides/_rels/slide6.xml.rels><?xml version="1.0" encoding="UTF-8" standalone="yes"?>
<Relationships xmlns="http://schemas.openxmlformats.org/package/2006/relationships"><Relationship Id="rId2" Type="http://schemas.openxmlformats.org/officeDocument/2006/relationships/slideLayout" Target="../slideLayouts/slideLayout2.xml"/><Relationship Id="rId1" Type="http://schemas.openxmlformats.org/officeDocument/2006/relationships/image" Target="../media/image13.png"/></Relationships>
</file>

<file path=ppt/slides/_rels/slide7.xml.rels><?xml version="1.0" encoding="UTF-8" standalone="yes"?>
<Relationships xmlns="http://schemas.openxmlformats.org/package/2006/relationships"><Relationship Id="rId3" Type="http://schemas.openxmlformats.org/officeDocument/2006/relationships/slideLayout" Target="../slideLayouts/slideLayout2.xml"/><Relationship Id="rId2" Type="http://schemas.openxmlformats.org/officeDocument/2006/relationships/image" Target="../media/image14.png"/><Relationship Id="rId1" Type="http://schemas.openxmlformats.org/officeDocument/2006/relationships/tags" Target="../tags/tag1.xml"/></Relationships>
</file>

<file path=ppt/slides/_rels/slide8.xml.rels><?xml version="1.0" encoding="UTF-8" standalone="yes"?>
<Relationships xmlns="http://schemas.openxmlformats.org/package/2006/relationships"><Relationship Id="rId2" Type="http://schemas.openxmlformats.org/officeDocument/2006/relationships/slideLayout" Target="../slideLayouts/slideLayout2.xml"/><Relationship Id="rId1" Type="http://schemas.openxmlformats.org/officeDocument/2006/relationships/image" Target="../media/image15.png"/></Relationships>
</file>

<file path=ppt/slides/_rels/slide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1524000" y="703898"/>
            <a:ext cx="9144000" cy="2387600"/>
          </a:xfrm>
        </p:spPr>
        <p:txBody>
          <a:bodyPr>
            <a:normAutofit/>
          </a:bodyPr>
          <a:lstStyle/>
          <a:p>
            <a:r>
              <a:rPr lang="en-US" altLang="en-GB" sz="4445" dirty="0"/>
              <a:t>two-wheeled self-balancing ultrasonic obstacle-avoidance transport vehicle based on an Arduino microcontroller</a:t>
            </a:r>
            <a:endParaRPr lang="en-US" altLang="en-GB" sz="4445" dirty="0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292860" y="3091498"/>
            <a:ext cx="9144000" cy="1655762"/>
          </a:xfrm>
        </p:spPr>
        <p:txBody>
          <a:bodyPr/>
          <a:lstStyle/>
          <a:p>
            <a:r>
              <a:rPr lang="en-US"/>
              <a:t>Z</a:t>
            </a:r>
            <a:r>
              <a:rPr lang="en-US"/>
              <a:t>ihan Gao</a:t>
            </a:r>
            <a:endParaRPr lang="en-US"/>
          </a:p>
          <a:p>
            <a:endParaRPr lang="en-US"/>
          </a:p>
        </p:txBody>
      </p:sp>
      <p:pic>
        <p:nvPicPr>
          <p:cNvPr id="6" name="Picture 5" descr="d728abb545b0e89e21f19de554e8f45b"/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3517265" y="3561080"/>
            <a:ext cx="4519295" cy="1969770"/>
          </a:xfrm>
          <a:prstGeom prst="rect">
            <a:avLst/>
          </a:prstGeom>
        </p:spPr>
      </p:pic>
      <p:sp>
        <p:nvSpPr>
          <p:cNvPr id="7" name="Text Box 6"/>
          <p:cNvSpPr txBox="1"/>
          <p:nvPr/>
        </p:nvSpPr>
        <p:spPr>
          <a:xfrm>
            <a:off x="3744595" y="5760085"/>
            <a:ext cx="4064000" cy="922020"/>
          </a:xfrm>
          <a:prstGeom prst="rect">
            <a:avLst/>
          </a:prstGeom>
          <a:noFill/>
        </p:spPr>
        <p:txBody>
          <a:bodyPr wrap="square" rtlCol="0">
            <a:spAutoFit/>
          </a:bodyPr>
          <a:p>
            <a:r>
              <a:rPr lang="en-US" altLang="en-GB"/>
              <a:t>I did before: Based on stm32, with no bluetooth wireless control and unbalanced, </a:t>
            </a:r>
            <a:r>
              <a:rPr lang="en-US" altLang="en-GB" b="1"/>
              <a:t>didn’t finish</a:t>
            </a:r>
            <a:endParaRPr lang="en-US" altLang="en-GB" b="1"/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>
            <a:normAutofit/>
          </a:bodyPr>
          <a:p>
            <a:r>
              <a:rPr lang="en-US" altLang="en-GB"/>
              <a:t>Porblem&amp;Aim</a:t>
            </a:r>
            <a:endParaRPr lang="en-US" altLang="en-GB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>
            <a:normAutofit lnSpcReduction="10000"/>
          </a:bodyPr>
          <a:p>
            <a:r>
              <a:rPr lang="en-US" altLang="en-GB" b="1"/>
              <a:t>Problem:</a:t>
            </a:r>
            <a:endParaRPr lang="en-US" altLang="en-GB" b="1"/>
          </a:p>
          <a:p>
            <a:r>
              <a:rPr lang="en-US" altLang="en-GB"/>
              <a:t>A four-wheeled transport vehicle has a large size and requires a wide space for turning, making it unsuitable for uneven terrain.</a:t>
            </a:r>
            <a:endParaRPr lang="en-US" altLang="en-GB"/>
          </a:p>
          <a:p>
            <a:r>
              <a:rPr lang="en-US" altLang="en-GB"/>
              <a:t>In contrast, a two-wheeled transport vehicle is compact and highly maneuverable, capable of rotating in place and adapting to irregular ground surfaces.</a:t>
            </a:r>
            <a:endParaRPr lang="en-US" altLang="en-GB"/>
          </a:p>
          <a:p>
            <a:r>
              <a:rPr lang="en-US" altLang="en-GB" b="1"/>
              <a:t>Aim: </a:t>
            </a:r>
            <a:endParaRPr lang="en-US" altLang="en-GB" b="1"/>
          </a:p>
          <a:p>
            <a:r>
              <a:rPr lang="en-US" altLang="en-GB"/>
              <a:t>To place a cup of water on the vehicle and ensure that it can move flexibly without spilling the water, thereby demonstrating system stability.</a:t>
            </a:r>
            <a:endParaRPr lang="en-US" altLang="en-GB"/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p>
            <a:r>
              <a:rPr lang="en-US" altLang="en-GB"/>
              <a:t>Hardware</a:t>
            </a:r>
            <a:endParaRPr lang="en-US" altLang="en-GB"/>
          </a:p>
        </p:txBody>
      </p:sp>
      <p:pic>
        <p:nvPicPr>
          <p:cNvPr id="10" name="Content Placeholder 9"/>
          <p:cNvPicPr>
            <a:picLocks noChangeAspect="1"/>
          </p:cNvPicPr>
          <p:nvPr>
            <p:ph idx="1"/>
          </p:nvPr>
        </p:nvPicPr>
        <p:blipFill>
          <a:blip r:embed="rId1"/>
          <a:stretch>
            <a:fillRect/>
          </a:stretch>
        </p:blipFill>
        <p:spPr>
          <a:xfrm>
            <a:off x="9184005" y="4619625"/>
            <a:ext cx="2169795" cy="1614805"/>
          </a:xfrm>
          <a:prstGeom prst="rect">
            <a:avLst/>
          </a:prstGeom>
        </p:spPr>
      </p:pic>
      <p:pic>
        <p:nvPicPr>
          <p:cNvPr id="4" name="Picture 3" descr="72d095653ce0056f9a6ff9048c9862cc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413385" y="1506855"/>
            <a:ext cx="2500630" cy="2160270"/>
          </a:xfrm>
          <a:prstGeom prst="rect">
            <a:avLst/>
          </a:prstGeom>
        </p:spPr>
      </p:pic>
      <p:pic>
        <p:nvPicPr>
          <p:cNvPr id="5" name="Picture 4" descr="c2e5e653031e03f8552c2b84cbe5cb07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3127375" y="1506855"/>
            <a:ext cx="2004060" cy="2049145"/>
          </a:xfrm>
          <a:prstGeom prst="rect">
            <a:avLst/>
          </a:prstGeom>
        </p:spPr>
      </p:pic>
      <p:pic>
        <p:nvPicPr>
          <p:cNvPr id="6" name="Picture 5" descr="201b5c6c264c2540465b8942c9030292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5672455" y="1506855"/>
            <a:ext cx="2814955" cy="2050415"/>
          </a:xfrm>
          <a:prstGeom prst="rect">
            <a:avLst/>
          </a:prstGeom>
        </p:spPr>
      </p:pic>
      <p:pic>
        <p:nvPicPr>
          <p:cNvPr id="7" name="Picture 6" descr="97aeafb40a487df97278bbed014bbf43"/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8862060" y="1412875"/>
            <a:ext cx="2742565" cy="2587625"/>
          </a:xfrm>
          <a:prstGeom prst="rect">
            <a:avLst/>
          </a:prstGeom>
        </p:spPr>
      </p:pic>
      <p:pic>
        <p:nvPicPr>
          <p:cNvPr id="8" name="Picture 7" descr="baf24c8be723937534e2d951f6133ec8"/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948690" y="4158615"/>
            <a:ext cx="3411855" cy="2107565"/>
          </a:xfrm>
          <a:prstGeom prst="rect">
            <a:avLst/>
          </a:prstGeom>
        </p:spPr>
      </p:pic>
      <p:pic>
        <p:nvPicPr>
          <p:cNvPr id="9" name="Picture 8" descr="8adc0f342049be01004e1b45d32d1901"/>
          <p:cNvPicPr>
            <a:picLocks noChangeAspect="1"/>
          </p:cNvPicPr>
          <p:nvPr/>
        </p:nvPicPr>
        <p:blipFill>
          <a:blip r:embed="rId7"/>
          <a:stretch>
            <a:fillRect/>
          </a:stretch>
        </p:blipFill>
        <p:spPr>
          <a:xfrm>
            <a:off x="5798185" y="4000500"/>
            <a:ext cx="2306955" cy="2423795"/>
          </a:xfrm>
          <a:prstGeom prst="rect">
            <a:avLst/>
          </a:prstGeom>
        </p:spPr>
      </p:pic>
      <p:sp>
        <p:nvSpPr>
          <p:cNvPr id="11" name="Text Box 10"/>
          <p:cNvSpPr txBox="1"/>
          <p:nvPr/>
        </p:nvSpPr>
        <p:spPr>
          <a:xfrm>
            <a:off x="296545" y="3728720"/>
            <a:ext cx="4064000" cy="368300"/>
          </a:xfrm>
          <a:prstGeom prst="rect">
            <a:avLst/>
          </a:prstGeom>
          <a:noFill/>
        </p:spPr>
        <p:txBody>
          <a:bodyPr wrap="square" rtlCol="0">
            <a:spAutoFit/>
          </a:bodyPr>
          <a:p>
            <a:r>
              <a:rPr lang="en-US" altLang="en-GB"/>
              <a:t>Arduino UNO</a:t>
            </a:r>
            <a:endParaRPr lang="en-US" altLang="en-GB"/>
          </a:p>
        </p:txBody>
      </p:sp>
      <p:sp>
        <p:nvSpPr>
          <p:cNvPr id="12" name="Text Box 11"/>
          <p:cNvSpPr txBox="1"/>
          <p:nvPr/>
        </p:nvSpPr>
        <p:spPr>
          <a:xfrm>
            <a:off x="3127375" y="3673475"/>
            <a:ext cx="4064000" cy="368300"/>
          </a:xfrm>
          <a:prstGeom prst="rect">
            <a:avLst/>
          </a:prstGeom>
          <a:noFill/>
        </p:spPr>
        <p:txBody>
          <a:bodyPr wrap="square" rtlCol="0">
            <a:spAutoFit/>
          </a:bodyPr>
          <a:p>
            <a:r>
              <a:rPr lang="en-US" altLang="en-GB"/>
              <a:t>TB6612 Motor Drive</a:t>
            </a:r>
            <a:endParaRPr lang="en-US" altLang="en-GB"/>
          </a:p>
        </p:txBody>
      </p:sp>
      <p:sp>
        <p:nvSpPr>
          <p:cNvPr id="13" name="Text Box 12"/>
          <p:cNvSpPr txBox="1"/>
          <p:nvPr/>
        </p:nvSpPr>
        <p:spPr>
          <a:xfrm>
            <a:off x="6010275" y="3622675"/>
            <a:ext cx="4064000" cy="368300"/>
          </a:xfrm>
          <a:prstGeom prst="rect">
            <a:avLst/>
          </a:prstGeom>
          <a:noFill/>
        </p:spPr>
        <p:txBody>
          <a:bodyPr wrap="square" rtlCol="0">
            <a:spAutoFit/>
          </a:bodyPr>
          <a:p>
            <a:r>
              <a:rPr lang="en-US" altLang="en-GB"/>
              <a:t>HC-SRO4 ultrasonic</a:t>
            </a:r>
            <a:endParaRPr lang="en-US" altLang="en-GB"/>
          </a:p>
        </p:txBody>
      </p:sp>
      <p:sp>
        <p:nvSpPr>
          <p:cNvPr id="14" name="Text Box 13"/>
          <p:cNvSpPr txBox="1"/>
          <p:nvPr/>
        </p:nvSpPr>
        <p:spPr>
          <a:xfrm>
            <a:off x="9434830" y="4121150"/>
            <a:ext cx="4064000" cy="368300"/>
          </a:xfrm>
          <a:prstGeom prst="rect">
            <a:avLst/>
          </a:prstGeom>
          <a:noFill/>
        </p:spPr>
        <p:txBody>
          <a:bodyPr wrap="square" rtlCol="0">
            <a:spAutoFit/>
          </a:bodyPr>
          <a:p>
            <a:r>
              <a:rPr lang="en-US" altLang="en-GB"/>
              <a:t>MPU6050 imu</a:t>
            </a:r>
            <a:endParaRPr lang="en-US" altLang="en-GB"/>
          </a:p>
        </p:txBody>
      </p:sp>
      <p:sp>
        <p:nvSpPr>
          <p:cNvPr id="15" name="Text Box 14"/>
          <p:cNvSpPr txBox="1"/>
          <p:nvPr/>
        </p:nvSpPr>
        <p:spPr>
          <a:xfrm>
            <a:off x="9434830" y="6489700"/>
            <a:ext cx="4064000" cy="368300"/>
          </a:xfrm>
          <a:prstGeom prst="rect">
            <a:avLst/>
          </a:prstGeom>
          <a:noFill/>
        </p:spPr>
        <p:txBody>
          <a:bodyPr wrap="square" rtlCol="0">
            <a:spAutoFit/>
          </a:bodyPr>
          <a:p>
            <a:r>
              <a:rPr lang="en-US" altLang="en-GB"/>
              <a:t>LM2596S voltage decrease</a:t>
            </a:r>
            <a:endParaRPr lang="en-US" altLang="en-GB"/>
          </a:p>
        </p:txBody>
      </p:sp>
      <p:sp>
        <p:nvSpPr>
          <p:cNvPr id="16" name="Text Box 15"/>
          <p:cNvSpPr txBox="1"/>
          <p:nvPr/>
        </p:nvSpPr>
        <p:spPr>
          <a:xfrm>
            <a:off x="5888990" y="6494780"/>
            <a:ext cx="4064000" cy="368300"/>
          </a:xfrm>
          <a:prstGeom prst="rect">
            <a:avLst/>
          </a:prstGeom>
          <a:noFill/>
        </p:spPr>
        <p:txBody>
          <a:bodyPr wrap="square" rtlCol="0">
            <a:spAutoFit/>
          </a:bodyPr>
          <a:p>
            <a:r>
              <a:rPr lang="en-US" altLang="en-GB"/>
              <a:t>JGA25-370 Encoder Motor</a:t>
            </a:r>
            <a:endParaRPr lang="en-US" altLang="en-GB"/>
          </a:p>
        </p:txBody>
      </p:sp>
      <p:sp>
        <p:nvSpPr>
          <p:cNvPr id="17" name="Text Box 16"/>
          <p:cNvSpPr txBox="1"/>
          <p:nvPr/>
        </p:nvSpPr>
        <p:spPr>
          <a:xfrm>
            <a:off x="1398905" y="6472555"/>
            <a:ext cx="4064000" cy="368300"/>
          </a:xfrm>
          <a:prstGeom prst="rect">
            <a:avLst/>
          </a:prstGeom>
          <a:noFill/>
        </p:spPr>
        <p:txBody>
          <a:bodyPr wrap="square" rtlCol="0">
            <a:spAutoFit/>
          </a:bodyPr>
          <a:p>
            <a:r>
              <a:rPr lang="en-US" altLang="en-GB"/>
              <a:t>HC-05 bluetooth</a:t>
            </a:r>
            <a:endParaRPr lang="en-US" altLang="en-GB"/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p>
            <a:r>
              <a:rPr lang="en-US" altLang="en-GB"/>
              <a:t>Coding</a:t>
            </a:r>
            <a:endParaRPr lang="en-US" altLang="en-GB"/>
          </a:p>
        </p:txBody>
      </p:sp>
      <p:pic>
        <p:nvPicPr>
          <p:cNvPr id="4" name="Content Placeholder 3"/>
          <p:cNvPicPr>
            <a:picLocks noChangeAspect="1"/>
          </p:cNvPicPr>
          <p:nvPr>
            <p:ph idx="1"/>
          </p:nvPr>
        </p:nvPicPr>
        <p:blipFill>
          <a:blip r:embed="rId1"/>
          <a:stretch>
            <a:fillRect/>
          </a:stretch>
        </p:blipFill>
        <p:spPr>
          <a:xfrm>
            <a:off x="6084570" y="1991995"/>
            <a:ext cx="4171950" cy="2414270"/>
          </a:xfrm>
          <a:prstGeom prst="rect">
            <a:avLst/>
          </a:prstGeom>
        </p:spPr>
      </p:pic>
      <p:sp>
        <p:nvSpPr>
          <p:cNvPr id="5" name="Text Box 4"/>
          <p:cNvSpPr txBox="1"/>
          <p:nvPr/>
        </p:nvSpPr>
        <p:spPr>
          <a:xfrm>
            <a:off x="771525" y="1565910"/>
            <a:ext cx="3916045" cy="4469765"/>
          </a:xfrm>
          <a:prstGeom prst="rect">
            <a:avLst/>
          </a:prstGeom>
        </p:spPr>
        <p:txBody>
          <a:bodyPr>
            <a:noAutofit/>
          </a:bodyPr>
          <a:p>
            <a:pPr marL="0" indent="0" algn="just" defTabSz="266700">
              <a:spcBef>
                <a:spcPct val="0"/>
              </a:spcBef>
              <a:spcAft>
                <a:spcPct val="0"/>
              </a:spcAft>
            </a:pPr>
            <a:r>
              <a:rPr lang="en-US" sz="1600" b="1">
                <a:latin typeface="Times New Roman" panose="02020603050405020304"/>
                <a:ea typeface="SimSun" panose="02010600030101010101" pitchFamily="2" charset="-122"/>
              </a:rPr>
              <a:t>Plan:</a:t>
            </a:r>
            <a:endParaRPr lang="en-US" sz="1600" b="1">
              <a:latin typeface="Times New Roman" panose="02020603050405020304"/>
              <a:ea typeface="SimSun" panose="02010600030101010101" pitchFamily="2" charset="-122"/>
            </a:endParaRPr>
          </a:p>
          <a:p>
            <a:pPr marL="0" indent="0" algn="just" defTabSz="266700">
              <a:spcBef>
                <a:spcPct val="0"/>
              </a:spcBef>
              <a:spcAft>
                <a:spcPct val="0"/>
              </a:spcAft>
            </a:pPr>
            <a:endParaRPr sz="1600" b="1">
              <a:latin typeface="Times New Roman" panose="02020603050405020304"/>
              <a:ea typeface="SimSun" panose="02010600030101010101" pitchFamily="2" charset="-122"/>
            </a:endParaRPr>
          </a:p>
          <a:p>
            <a:pPr marL="0" indent="0" algn="just" defTabSz="266700">
              <a:spcBef>
                <a:spcPct val="0"/>
              </a:spcBef>
              <a:spcAft>
                <a:spcPct val="0"/>
              </a:spcAft>
            </a:pPr>
            <a:r>
              <a:rPr sz="1600" b="1">
                <a:latin typeface="Times New Roman" panose="02020603050405020304"/>
                <a:ea typeface="SimSun" panose="02010600030101010101" pitchFamily="2" charset="-122"/>
              </a:rPr>
              <a:t>Sensing Layer:</a:t>
            </a:r>
            <a:endParaRPr sz="1600" b="1">
              <a:latin typeface="Times New Roman" panose="02020603050405020304"/>
              <a:ea typeface="SimSun" panose="02010600030101010101" pitchFamily="2" charset="-122"/>
            </a:endParaRPr>
          </a:p>
          <a:p>
            <a:pPr marL="0" indent="0" algn="just" defTabSz="266700">
              <a:spcBef>
                <a:spcPct val="0"/>
              </a:spcBef>
              <a:spcAft>
                <a:spcPct val="0"/>
              </a:spcAft>
            </a:pPr>
            <a:r>
              <a:rPr sz="1600">
                <a:latin typeface="Times New Roman" panose="02020603050405020304"/>
                <a:ea typeface="SimSun" panose="02010600030101010101" pitchFamily="2" charset="-122"/>
              </a:rPr>
              <a:t>IMU for pitch angle estimation;</a:t>
            </a:r>
            <a:endParaRPr sz="1600">
              <a:latin typeface="Times New Roman" panose="02020603050405020304"/>
              <a:ea typeface="SimSun" panose="02010600030101010101" pitchFamily="2" charset="-122"/>
            </a:endParaRPr>
          </a:p>
          <a:p>
            <a:pPr marL="0" indent="0" algn="just" defTabSz="266700">
              <a:spcBef>
                <a:spcPct val="0"/>
              </a:spcBef>
              <a:spcAft>
                <a:spcPct val="0"/>
              </a:spcAft>
            </a:pPr>
            <a:r>
              <a:rPr sz="1600">
                <a:latin typeface="Times New Roman" panose="02020603050405020304"/>
                <a:ea typeface="SimSun" panose="02010600030101010101" pitchFamily="2" charset="-122"/>
              </a:rPr>
              <a:t>Ultrasonic sensor for obstacle detection.</a:t>
            </a:r>
            <a:endParaRPr sz="1600">
              <a:latin typeface="Times New Roman" panose="02020603050405020304"/>
              <a:ea typeface="SimSun" panose="02010600030101010101" pitchFamily="2" charset="-122"/>
            </a:endParaRPr>
          </a:p>
          <a:p>
            <a:pPr marL="0" indent="0" algn="just" defTabSz="266700">
              <a:spcBef>
                <a:spcPct val="0"/>
              </a:spcBef>
              <a:spcAft>
                <a:spcPct val="0"/>
              </a:spcAft>
            </a:pPr>
            <a:endParaRPr sz="1600">
              <a:latin typeface="Times New Roman" panose="02020603050405020304"/>
              <a:ea typeface="SimSun" panose="02010600030101010101" pitchFamily="2" charset="-122"/>
            </a:endParaRPr>
          </a:p>
          <a:p>
            <a:pPr marL="0" indent="0" algn="just" defTabSz="266700">
              <a:spcBef>
                <a:spcPct val="0"/>
              </a:spcBef>
              <a:spcAft>
                <a:spcPct val="0"/>
              </a:spcAft>
            </a:pPr>
            <a:r>
              <a:rPr sz="1600" b="1">
                <a:latin typeface="Times New Roman" panose="02020603050405020304"/>
                <a:ea typeface="SimSun" panose="02010600030101010101" pitchFamily="2" charset="-122"/>
              </a:rPr>
              <a:t>Control Layer:</a:t>
            </a:r>
            <a:endParaRPr sz="1600" b="1">
              <a:latin typeface="Times New Roman" panose="02020603050405020304"/>
              <a:ea typeface="SimSun" panose="02010600030101010101" pitchFamily="2" charset="-122"/>
            </a:endParaRPr>
          </a:p>
          <a:p>
            <a:pPr marL="0" indent="0" algn="just" defTabSz="266700">
              <a:spcBef>
                <a:spcPct val="0"/>
              </a:spcBef>
              <a:spcAft>
                <a:spcPct val="0"/>
              </a:spcAft>
            </a:pPr>
            <a:r>
              <a:rPr sz="1600">
                <a:latin typeface="Times New Roman" panose="02020603050405020304"/>
                <a:ea typeface="SimSun" panose="02010600030101010101" pitchFamily="2" charset="-122"/>
              </a:rPr>
              <a:t>Arduino UNO</a:t>
            </a:r>
            <a:endParaRPr sz="1600">
              <a:latin typeface="Times New Roman" panose="02020603050405020304"/>
              <a:ea typeface="SimSun" panose="02010600030101010101" pitchFamily="2" charset="-122"/>
            </a:endParaRPr>
          </a:p>
          <a:p>
            <a:pPr marL="0" indent="0" algn="just" defTabSz="266700">
              <a:spcBef>
                <a:spcPct val="0"/>
              </a:spcBef>
              <a:spcAft>
                <a:spcPct val="0"/>
              </a:spcAft>
            </a:pPr>
            <a:r>
              <a:rPr sz="1600">
                <a:latin typeface="Times New Roman" panose="02020603050405020304"/>
                <a:ea typeface="SimSun" panose="02010600030101010101" pitchFamily="2" charset="-122"/>
              </a:rPr>
              <a:t>PID control algorithm</a:t>
            </a:r>
            <a:endParaRPr sz="1600">
              <a:latin typeface="Times New Roman" panose="02020603050405020304"/>
              <a:ea typeface="SimSun" panose="02010600030101010101" pitchFamily="2" charset="-122"/>
            </a:endParaRPr>
          </a:p>
          <a:p>
            <a:pPr marL="0" indent="0" algn="just" defTabSz="266700">
              <a:spcBef>
                <a:spcPct val="0"/>
              </a:spcBef>
              <a:spcAft>
                <a:spcPct val="0"/>
              </a:spcAft>
            </a:pPr>
            <a:r>
              <a:rPr sz="1600">
                <a:latin typeface="Times New Roman" panose="02020603050405020304"/>
                <a:ea typeface="SimSun" panose="02010600030101010101" pitchFamily="2" charset="-122"/>
              </a:rPr>
              <a:t>obstacle-avoidance logic</a:t>
            </a:r>
            <a:endParaRPr sz="1600">
              <a:latin typeface="Times New Roman" panose="02020603050405020304"/>
              <a:ea typeface="SimSun" panose="02010600030101010101" pitchFamily="2" charset="-122"/>
            </a:endParaRPr>
          </a:p>
          <a:p>
            <a:pPr marL="0" indent="0" algn="just" defTabSz="266700">
              <a:spcBef>
                <a:spcPct val="0"/>
              </a:spcBef>
              <a:spcAft>
                <a:spcPct val="0"/>
              </a:spcAft>
            </a:pPr>
            <a:endParaRPr sz="1600">
              <a:latin typeface="Times New Roman" panose="02020603050405020304"/>
              <a:ea typeface="SimSun" panose="02010600030101010101" pitchFamily="2" charset="-122"/>
            </a:endParaRPr>
          </a:p>
          <a:p>
            <a:pPr marL="0" indent="0" algn="just" defTabSz="266700">
              <a:spcBef>
                <a:spcPct val="0"/>
              </a:spcBef>
              <a:spcAft>
                <a:spcPct val="0"/>
              </a:spcAft>
            </a:pPr>
            <a:r>
              <a:rPr sz="1600" b="1">
                <a:latin typeface="Times New Roman" panose="02020603050405020304"/>
                <a:ea typeface="SimSun" panose="02010600030101010101" pitchFamily="2" charset="-122"/>
              </a:rPr>
              <a:t>Execution Layer:</a:t>
            </a:r>
            <a:endParaRPr sz="1600" b="1">
              <a:latin typeface="Times New Roman" panose="02020603050405020304"/>
              <a:ea typeface="SimSun" panose="02010600030101010101" pitchFamily="2" charset="-122"/>
            </a:endParaRPr>
          </a:p>
          <a:p>
            <a:pPr marL="0" indent="0" algn="just" defTabSz="266700">
              <a:spcBef>
                <a:spcPct val="0"/>
              </a:spcBef>
              <a:spcAft>
                <a:spcPct val="0"/>
              </a:spcAft>
            </a:pPr>
            <a:r>
              <a:rPr sz="1600">
                <a:latin typeface="Times New Roman" panose="02020603050405020304"/>
                <a:ea typeface="SimSun" panose="02010600030101010101" pitchFamily="2" charset="-122"/>
              </a:rPr>
              <a:t>motor driver for differential wheel control</a:t>
            </a:r>
            <a:endParaRPr sz="1600">
              <a:latin typeface="Times New Roman" panose="02020603050405020304"/>
              <a:ea typeface="SimSun" panose="02010600030101010101" pitchFamily="2" charset="-122"/>
            </a:endParaRPr>
          </a:p>
          <a:p>
            <a:pPr marL="0" indent="0" algn="just" defTabSz="266700">
              <a:spcBef>
                <a:spcPct val="0"/>
              </a:spcBef>
              <a:spcAft>
                <a:spcPct val="0"/>
              </a:spcAft>
            </a:pPr>
            <a:r>
              <a:rPr sz="1600">
                <a:latin typeface="Times New Roman" panose="02020603050405020304"/>
                <a:ea typeface="SimSun" panose="02010600030101010101" pitchFamily="2" charset="-122"/>
              </a:rPr>
              <a:t>wireless controller for user interaction</a:t>
            </a:r>
            <a:endParaRPr sz="1600">
              <a:latin typeface="Times New Roman" panose="02020603050405020304"/>
              <a:ea typeface="SimSun" panose="02010600030101010101" pitchFamily="2" charset="-122"/>
            </a:endParaRPr>
          </a:p>
          <a:p>
            <a:pPr marL="0" indent="0" algn="just" defTabSz="266700">
              <a:spcBef>
                <a:spcPct val="0"/>
              </a:spcBef>
              <a:spcAft>
                <a:spcPct val="0"/>
              </a:spcAft>
            </a:pPr>
            <a:endParaRPr sz="1600">
              <a:latin typeface="Times New Roman" panose="02020603050405020304"/>
              <a:ea typeface="SimSun" panose="02010600030101010101" pitchFamily="2" charset="-122"/>
            </a:endParaRPr>
          </a:p>
          <a:p>
            <a:pPr marL="0" indent="0" algn="just" defTabSz="266700">
              <a:spcBef>
                <a:spcPct val="0"/>
              </a:spcBef>
              <a:spcAft>
                <a:spcPct val="0"/>
              </a:spcAft>
            </a:pPr>
            <a:endParaRPr lang="en-US" sz="1600">
              <a:latin typeface="Times New Roman" panose="02020603050405020304"/>
              <a:ea typeface="SimSun" panose="02010600030101010101" pitchFamily="2" charset="-122"/>
            </a:endParaRPr>
          </a:p>
        </p:txBody>
      </p:sp>
      <p:sp>
        <p:nvSpPr>
          <p:cNvPr id="6" name="Text Box 5"/>
          <p:cNvSpPr txBox="1"/>
          <p:nvPr/>
        </p:nvSpPr>
        <p:spPr>
          <a:xfrm>
            <a:off x="6084570" y="1623695"/>
            <a:ext cx="4064000" cy="368300"/>
          </a:xfrm>
          <a:prstGeom prst="rect">
            <a:avLst/>
          </a:prstGeom>
          <a:noFill/>
        </p:spPr>
        <p:txBody>
          <a:bodyPr wrap="square" rtlCol="0">
            <a:spAutoFit/>
          </a:bodyPr>
          <a:p>
            <a:r>
              <a:rPr lang="en-US" altLang="en-GB"/>
              <a:t>So far:</a:t>
            </a:r>
            <a:endParaRPr lang="en-US" altLang="en-GB"/>
          </a:p>
        </p:txBody>
      </p:sp>
      <p:sp>
        <p:nvSpPr>
          <p:cNvPr id="8" name="Text Box 7"/>
          <p:cNvSpPr txBox="1"/>
          <p:nvPr/>
        </p:nvSpPr>
        <p:spPr>
          <a:xfrm>
            <a:off x="6084570" y="4213225"/>
            <a:ext cx="4064000" cy="1876425"/>
          </a:xfrm>
          <a:prstGeom prst="rect">
            <a:avLst/>
          </a:prstGeom>
          <a:noFill/>
        </p:spPr>
        <p:txBody>
          <a:bodyPr wrap="square" rtlCol="0">
            <a:spAutoFit/>
          </a:bodyPr>
          <a:p>
            <a:r>
              <a:rPr lang="en-US" altLang="en-GB"/>
              <a:t>Next step:</a:t>
            </a:r>
            <a:endParaRPr lang="en-US" altLang="en-GB"/>
          </a:p>
          <a:p>
            <a:endParaRPr lang="en-US" altLang="en-GB"/>
          </a:p>
          <a:p>
            <a:r>
              <a:rPr lang="en-US" altLang="en-GB" sz="1600"/>
              <a:t>PID control algorism</a:t>
            </a:r>
            <a:endParaRPr lang="en-US" altLang="en-GB" sz="1600"/>
          </a:p>
          <a:p>
            <a:r>
              <a:rPr lang="en-US" altLang="en-GB" sz="1600"/>
              <a:t>Rotation algorism</a:t>
            </a:r>
            <a:endParaRPr lang="en-US" altLang="en-GB" sz="1600"/>
          </a:p>
          <a:p>
            <a:r>
              <a:rPr lang="en-US" altLang="en-GB" sz="1600"/>
              <a:t>obstacle avoidance</a:t>
            </a:r>
            <a:endParaRPr lang="en-US" altLang="en-GB" sz="1600"/>
          </a:p>
          <a:p>
            <a:endParaRPr lang="en-US" altLang="en-GB" sz="1600"/>
          </a:p>
          <a:p>
            <a:r>
              <a:rPr lang="en-US" altLang="en-GB" sz="1600"/>
              <a:t>and keep adusting values...</a:t>
            </a:r>
            <a:endParaRPr lang="en-US" altLang="en-GB" sz="1600"/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p>
            <a:r>
              <a:rPr lang="en-US" altLang="en-GB"/>
              <a:t>Software require</a:t>
            </a:r>
            <a:endParaRPr lang="en-US" altLang="en-GB"/>
          </a:p>
        </p:txBody>
      </p:sp>
      <p:pic>
        <p:nvPicPr>
          <p:cNvPr id="8" name="Content Placeholder 7"/>
          <p:cNvPicPr>
            <a:picLocks noChangeAspect="1"/>
          </p:cNvPicPr>
          <p:nvPr>
            <p:ph idx="1"/>
          </p:nvPr>
        </p:nvPicPr>
        <p:blipFill>
          <a:blip r:embed="rId1"/>
          <a:stretch>
            <a:fillRect/>
          </a:stretch>
        </p:blipFill>
        <p:spPr>
          <a:xfrm>
            <a:off x="3914140" y="2183765"/>
            <a:ext cx="2673350" cy="1830705"/>
          </a:xfrm>
          <a:prstGeom prst="rect">
            <a:avLst/>
          </a:prstGeom>
        </p:spPr>
      </p:pic>
      <p:sp>
        <p:nvSpPr>
          <p:cNvPr id="9" name="Text Box 8"/>
          <p:cNvSpPr txBox="1"/>
          <p:nvPr/>
        </p:nvSpPr>
        <p:spPr>
          <a:xfrm>
            <a:off x="838200" y="1753235"/>
            <a:ext cx="4064000" cy="368300"/>
          </a:xfrm>
          <a:prstGeom prst="rect">
            <a:avLst/>
          </a:prstGeom>
          <a:noFill/>
        </p:spPr>
        <p:txBody>
          <a:bodyPr wrap="square" rtlCol="0">
            <a:spAutoFit/>
          </a:bodyPr>
          <a:p>
            <a:r>
              <a:rPr lang="en-US" altLang="en-GB"/>
              <a:t>Arduino IDE</a:t>
            </a:r>
            <a:endParaRPr lang="en-US" altLang="en-GB"/>
          </a:p>
        </p:txBody>
      </p:sp>
      <p:pic>
        <p:nvPicPr>
          <p:cNvPr id="10" name="Picture 9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742950" y="2183765"/>
            <a:ext cx="2169795" cy="1969770"/>
          </a:xfrm>
          <a:prstGeom prst="rect">
            <a:avLst/>
          </a:prstGeom>
        </p:spPr>
      </p:pic>
      <p:sp>
        <p:nvSpPr>
          <p:cNvPr id="11" name="Text Box 10"/>
          <p:cNvSpPr txBox="1"/>
          <p:nvPr/>
        </p:nvSpPr>
        <p:spPr>
          <a:xfrm>
            <a:off x="3518535" y="1753235"/>
            <a:ext cx="4064000" cy="368300"/>
          </a:xfrm>
          <a:prstGeom prst="rect">
            <a:avLst/>
          </a:prstGeom>
          <a:noFill/>
        </p:spPr>
        <p:txBody>
          <a:bodyPr wrap="square" rtlCol="0">
            <a:spAutoFit/>
          </a:bodyPr>
          <a:p>
            <a:pPr marL="457200" lvl="1" indent="457200"/>
            <a:r>
              <a:rPr lang="en-US" altLang="en-GB"/>
              <a:t>Android Studio</a:t>
            </a:r>
            <a:endParaRPr lang="en-US" altLang="en-GB"/>
          </a:p>
        </p:txBody>
      </p:sp>
      <p:sp>
        <p:nvSpPr>
          <p:cNvPr id="12" name="Text Box 11"/>
          <p:cNvSpPr txBox="1"/>
          <p:nvPr/>
        </p:nvSpPr>
        <p:spPr>
          <a:xfrm>
            <a:off x="8348980" y="1753235"/>
            <a:ext cx="4064000" cy="368300"/>
          </a:xfrm>
          <a:prstGeom prst="rect">
            <a:avLst/>
          </a:prstGeom>
          <a:noFill/>
        </p:spPr>
        <p:txBody>
          <a:bodyPr wrap="square" rtlCol="0">
            <a:spAutoFit/>
          </a:bodyPr>
          <a:p>
            <a:r>
              <a:rPr lang="en-US" altLang="en-GB"/>
              <a:t>PCB software</a:t>
            </a:r>
            <a:endParaRPr lang="en-US" altLang="en-GB"/>
          </a:p>
        </p:txBody>
      </p:sp>
      <p:pic>
        <p:nvPicPr>
          <p:cNvPr id="13" name="Picture 12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7511415" y="2033905"/>
            <a:ext cx="3444240" cy="2119630"/>
          </a:xfrm>
          <a:prstGeom prst="rect">
            <a:avLst/>
          </a:prstGeom>
        </p:spPr>
      </p:pic>
      <p:sp>
        <p:nvSpPr>
          <p:cNvPr id="14" name="Text Box 13"/>
          <p:cNvSpPr txBox="1"/>
          <p:nvPr/>
        </p:nvSpPr>
        <p:spPr>
          <a:xfrm>
            <a:off x="742950" y="4782185"/>
            <a:ext cx="4064000" cy="645160"/>
          </a:xfrm>
          <a:prstGeom prst="rect">
            <a:avLst/>
          </a:prstGeom>
          <a:noFill/>
        </p:spPr>
        <p:txBody>
          <a:bodyPr wrap="square" rtlCol="0">
            <a:spAutoFit/>
          </a:bodyPr>
          <a:p>
            <a:r>
              <a:rPr lang="en-US" altLang="en-GB"/>
              <a:t>CAD software if needed</a:t>
            </a:r>
            <a:endParaRPr lang="en-US" altLang="en-GB"/>
          </a:p>
          <a:p>
            <a:endParaRPr lang="en-US" altLang="en-GB"/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p>
            <a:r>
              <a:rPr lang="en-US" altLang="en-GB"/>
              <a:t>schematic</a:t>
            </a:r>
            <a:endParaRPr lang="en-US" altLang="en-GB"/>
          </a:p>
        </p:txBody>
      </p:sp>
      <p:pic>
        <p:nvPicPr>
          <p:cNvPr id="4" name="Content Placeholder 3"/>
          <p:cNvPicPr>
            <a:picLocks noChangeAspect="1"/>
          </p:cNvPicPr>
          <p:nvPr>
            <p:ph idx="1"/>
          </p:nvPr>
        </p:nvPicPr>
        <p:blipFill>
          <a:blip r:embed="rId1"/>
          <a:stretch>
            <a:fillRect/>
          </a:stretch>
        </p:blipFill>
        <p:spPr>
          <a:xfrm>
            <a:off x="2112010" y="1514475"/>
            <a:ext cx="8096250" cy="5215255"/>
          </a:xfrm>
          <a:prstGeom prst="rect">
            <a:avLst/>
          </a:prstGeom>
        </p:spPr>
      </p:pic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p>
            <a:r>
              <a:rPr lang="en-US" altLang="en-GB"/>
              <a:t>Pin arrang</a:t>
            </a:r>
            <a:r>
              <a:rPr lang="en-US" altLang="en-GB"/>
              <a:t>ement</a:t>
            </a:r>
            <a:endParaRPr lang="en-US" altLang="en-GB"/>
          </a:p>
        </p:txBody>
      </p:sp>
      <p:graphicFrame>
        <p:nvGraphicFramePr>
          <p:cNvPr id="4" name="Table 3"/>
          <p:cNvGraphicFramePr/>
          <p:nvPr>
            <p:custDataLst>
              <p:tags r:id="rId1"/>
            </p:custDataLst>
          </p:nvPr>
        </p:nvGraphicFramePr>
        <p:xfrm>
          <a:off x="578485" y="1398270"/>
          <a:ext cx="4242435" cy="5289550"/>
        </p:xfrm>
        <a:graphic>
          <a:graphicData uri="http://schemas.openxmlformats.org/drawingml/2006/table">
            <a:tbl>
              <a:tblPr/>
              <a:tblGrid>
                <a:gridCol w="704215"/>
                <a:gridCol w="1275080"/>
                <a:gridCol w="2263140"/>
              </a:tblGrid>
              <a:tr h="155575">
                <a:tc>
                  <a:txBody>
                    <a:bodyPr/>
                    <a:p>
                      <a:pPr algn="ctr" fontAlgn="b"/>
                      <a:r>
                        <a:rPr sz="800" b="0" i="0">
                          <a:solidFill>
                            <a:srgbClr val="000000"/>
                          </a:solidFill>
                          <a:latin typeface="Calibri" panose="020F0502020204030204"/>
                          <a:ea typeface="Calibri" panose="020F0502020204030204"/>
                        </a:rPr>
                        <a:t>Digital PIN</a:t>
                      </a:r>
                      <a:endParaRPr sz="800" b="0" i="0">
                        <a:solidFill>
                          <a:srgbClr val="000000"/>
                        </a:solidFill>
                        <a:latin typeface="Calibri" panose="020F0502020204030204"/>
                        <a:ea typeface="Calibri" panose="020F0502020204030204"/>
                      </a:endParaRPr>
                    </a:p>
                  </a:txBody>
                  <a:tcPr marL="9842" marR="9842" marT="9842" marB="0" anchor="b" anchorCtr="0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solidFill>
                      <a:srgbClr val="FFFF00"/>
                    </a:solidFill>
                  </a:tcPr>
                </a:tc>
                <a:tc>
                  <a:txBody>
                    <a:bodyPr/>
                    <a:p>
                      <a:pPr algn="ctr" fontAlgn="b"/>
                      <a:r>
                        <a:rPr sz="800" b="0" i="0">
                          <a:solidFill>
                            <a:srgbClr val="000000"/>
                          </a:solidFill>
                          <a:latin typeface="Calibri" panose="020F0502020204030204"/>
                          <a:ea typeface="Calibri" panose="020F0502020204030204"/>
                        </a:rPr>
                        <a:t>Connection</a:t>
                      </a:r>
                      <a:endParaRPr sz="800" b="0" i="0">
                        <a:solidFill>
                          <a:srgbClr val="000000"/>
                        </a:solidFill>
                        <a:latin typeface="Calibri" panose="020F0502020204030204"/>
                        <a:ea typeface="Calibri" panose="020F0502020204030204"/>
                      </a:endParaRPr>
                    </a:p>
                  </a:txBody>
                  <a:tcPr marL="9842" marR="9842" marT="9842" marB="0" anchor="b" anchorCtr="0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solidFill>
                      <a:srgbClr val="FFFF00"/>
                    </a:solidFill>
                  </a:tcPr>
                </a:tc>
                <a:tc>
                  <a:txBody>
                    <a:bodyPr/>
                    <a:p>
                      <a:pPr algn="ctr" fontAlgn="b"/>
                      <a:r>
                        <a:rPr sz="800" b="0" i="0">
                          <a:solidFill>
                            <a:srgbClr val="000000"/>
                          </a:solidFill>
                          <a:latin typeface="Calibri" panose="020F0502020204030204"/>
                          <a:ea typeface="Calibri" panose="020F0502020204030204"/>
                        </a:rPr>
                        <a:t>Function</a:t>
                      </a:r>
                      <a:endParaRPr sz="800" b="0" i="0">
                        <a:solidFill>
                          <a:srgbClr val="000000"/>
                        </a:solidFill>
                        <a:latin typeface="Calibri" panose="020F0502020204030204"/>
                        <a:ea typeface="Calibri" panose="020F0502020204030204"/>
                      </a:endParaRPr>
                    </a:p>
                  </a:txBody>
                  <a:tcPr marL="9842" marR="9842" marT="9842" marB="0" anchor="b" anchorCtr="0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solidFill>
                      <a:srgbClr val="FFFF00"/>
                    </a:solidFill>
                  </a:tcPr>
                </a:tc>
              </a:tr>
              <a:tr h="155575">
                <a:tc>
                  <a:txBody>
                    <a:bodyPr/>
                    <a:p>
                      <a:pPr algn="ctr" fontAlgn="b"/>
                      <a:r>
                        <a:rPr sz="800" b="0" i="0">
                          <a:solidFill>
                            <a:srgbClr val="000000"/>
                          </a:solidFill>
                          <a:latin typeface="Calibri" panose="020F0502020204030204"/>
                          <a:ea typeface="Calibri" panose="020F0502020204030204"/>
                        </a:rPr>
                        <a:t>0</a:t>
                      </a:r>
                      <a:endParaRPr sz="800" b="0" i="0">
                        <a:solidFill>
                          <a:srgbClr val="000000"/>
                        </a:solidFill>
                        <a:latin typeface="Calibri" panose="020F0502020204030204"/>
                        <a:ea typeface="Calibri" panose="020F0502020204030204"/>
                      </a:endParaRPr>
                    </a:p>
                  </a:txBody>
                  <a:tcPr marL="9842" marR="9842" marT="9842" marB="0" anchor="b" anchorCtr="0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tc>
                  <a:txBody>
                    <a:bodyPr/>
                    <a:p>
                      <a:pPr algn="ctr" fontAlgn="b"/>
                      <a:r>
                        <a:rPr sz="800" b="0" i="0">
                          <a:solidFill>
                            <a:srgbClr val="000000"/>
                          </a:solidFill>
                          <a:latin typeface="Calibri" panose="020F0502020204030204"/>
                          <a:ea typeface="Calibri" panose="020F0502020204030204"/>
                        </a:rPr>
                        <a:t>NO Connection</a:t>
                      </a:r>
                      <a:endParaRPr sz="800" b="0" i="0">
                        <a:solidFill>
                          <a:srgbClr val="000000"/>
                        </a:solidFill>
                        <a:latin typeface="Calibri" panose="020F0502020204030204"/>
                        <a:ea typeface="Calibri" panose="020F0502020204030204"/>
                      </a:endParaRPr>
                    </a:p>
                  </a:txBody>
                  <a:tcPr marL="9842" marR="9842" marT="9842" marB="0" anchor="b" anchorCtr="0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tc>
                  <a:txBody>
                    <a:bodyPr/>
                    <a:p>
                      <a:pPr algn="ctr" fontAlgn="b"/>
                      <a:r>
                        <a:rPr sz="800" b="0" i="0">
                          <a:solidFill>
                            <a:srgbClr val="000000"/>
                          </a:solidFill>
                          <a:latin typeface="Calibri" panose="020F0502020204030204"/>
                          <a:ea typeface="Calibri" panose="020F0502020204030204"/>
                        </a:rPr>
                        <a:t>TX/serial communication/upload</a:t>
                      </a:r>
                      <a:endParaRPr sz="800" b="0" i="0">
                        <a:solidFill>
                          <a:srgbClr val="000000"/>
                        </a:solidFill>
                        <a:latin typeface="Calibri" panose="020F0502020204030204"/>
                        <a:ea typeface="Calibri" panose="020F0502020204030204"/>
                      </a:endParaRPr>
                    </a:p>
                  </a:txBody>
                  <a:tcPr marL="9842" marR="9842" marT="9842" marB="0" anchor="b" anchorCtr="0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</a:tr>
              <a:tr h="155575">
                <a:tc>
                  <a:txBody>
                    <a:bodyPr/>
                    <a:p>
                      <a:pPr algn="ctr" fontAlgn="b"/>
                      <a:r>
                        <a:rPr sz="800" b="0" i="0">
                          <a:solidFill>
                            <a:srgbClr val="000000"/>
                          </a:solidFill>
                          <a:latin typeface="Calibri" panose="020F0502020204030204"/>
                          <a:ea typeface="Calibri" panose="020F0502020204030204"/>
                        </a:rPr>
                        <a:t>1</a:t>
                      </a:r>
                      <a:endParaRPr sz="800" b="0" i="0">
                        <a:solidFill>
                          <a:srgbClr val="000000"/>
                        </a:solidFill>
                        <a:latin typeface="Calibri" panose="020F0502020204030204"/>
                        <a:ea typeface="Calibri" panose="020F0502020204030204"/>
                      </a:endParaRPr>
                    </a:p>
                  </a:txBody>
                  <a:tcPr marL="9842" marR="9842" marT="9842" marB="0" anchor="b" anchorCtr="0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tc>
                  <a:txBody>
                    <a:bodyPr/>
                    <a:p>
                      <a:pPr algn="ctr" fontAlgn="b"/>
                      <a:r>
                        <a:rPr sz="800" b="0" i="0">
                          <a:solidFill>
                            <a:srgbClr val="000000"/>
                          </a:solidFill>
                          <a:latin typeface="Calibri" panose="020F0502020204030204"/>
                          <a:ea typeface="Calibri" panose="020F0502020204030204"/>
                        </a:rPr>
                        <a:t>NO Connection</a:t>
                      </a:r>
                      <a:endParaRPr sz="800" b="0" i="0">
                        <a:solidFill>
                          <a:srgbClr val="000000"/>
                        </a:solidFill>
                        <a:latin typeface="Calibri" panose="020F0502020204030204"/>
                        <a:ea typeface="Calibri" panose="020F0502020204030204"/>
                      </a:endParaRPr>
                    </a:p>
                  </a:txBody>
                  <a:tcPr marL="9842" marR="9842" marT="9842" marB="0" anchor="b" anchorCtr="0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tc>
                  <a:txBody>
                    <a:bodyPr/>
                    <a:p>
                      <a:pPr algn="ctr" fontAlgn="b"/>
                      <a:r>
                        <a:rPr sz="800" b="0" i="0">
                          <a:solidFill>
                            <a:srgbClr val="000000"/>
                          </a:solidFill>
                          <a:latin typeface="Calibri" panose="020F0502020204030204"/>
                          <a:ea typeface="Calibri" panose="020F0502020204030204"/>
                        </a:rPr>
                        <a:t>RX/serial communication/upload</a:t>
                      </a:r>
                      <a:endParaRPr sz="800" b="0" i="0">
                        <a:solidFill>
                          <a:srgbClr val="000000"/>
                        </a:solidFill>
                        <a:latin typeface="Calibri" panose="020F0502020204030204"/>
                        <a:ea typeface="Calibri" panose="020F0502020204030204"/>
                      </a:endParaRPr>
                    </a:p>
                  </a:txBody>
                  <a:tcPr marL="9842" marR="9842" marT="9842" marB="0" anchor="b" anchorCtr="0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</a:tr>
              <a:tr h="155575">
                <a:tc>
                  <a:txBody>
                    <a:bodyPr/>
                    <a:p>
                      <a:pPr algn="ctr" fontAlgn="b"/>
                      <a:r>
                        <a:rPr sz="800" b="0" i="0">
                          <a:solidFill>
                            <a:srgbClr val="000000"/>
                          </a:solidFill>
                          <a:latin typeface="Calibri" panose="020F0502020204030204"/>
                          <a:ea typeface="Calibri" panose="020F0502020204030204"/>
                        </a:rPr>
                        <a:t>2</a:t>
                      </a:r>
                      <a:endParaRPr sz="800" b="0" i="0">
                        <a:solidFill>
                          <a:srgbClr val="000000"/>
                        </a:solidFill>
                        <a:latin typeface="Calibri" panose="020F0502020204030204"/>
                        <a:ea typeface="Calibri" panose="020F0502020204030204"/>
                      </a:endParaRPr>
                    </a:p>
                  </a:txBody>
                  <a:tcPr marL="9842" marR="9842" marT="9842" marB="0" anchor="b" anchorCtr="0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solidFill>
                      <a:srgbClr val="C9C9C9"/>
                    </a:solidFill>
                  </a:tcPr>
                </a:tc>
                <a:tc>
                  <a:txBody>
                    <a:bodyPr/>
                    <a:p>
                      <a:pPr algn="ctr" fontAlgn="b"/>
                      <a:r>
                        <a:rPr sz="800" b="0" i="0">
                          <a:solidFill>
                            <a:srgbClr val="000000"/>
                          </a:solidFill>
                          <a:latin typeface="Calibri" panose="020F0502020204030204"/>
                          <a:ea typeface="Calibri" panose="020F0502020204030204"/>
                        </a:rPr>
                        <a:t>Motor A PIN1</a:t>
                      </a:r>
                      <a:endParaRPr sz="800" b="0" i="0">
                        <a:solidFill>
                          <a:srgbClr val="000000"/>
                        </a:solidFill>
                        <a:latin typeface="Calibri" panose="020F0502020204030204"/>
                        <a:ea typeface="Calibri" panose="020F0502020204030204"/>
                      </a:endParaRPr>
                    </a:p>
                  </a:txBody>
                  <a:tcPr marL="9842" marR="9842" marT="9842" marB="0" anchor="b" anchorCtr="0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solidFill>
                      <a:srgbClr val="C9C9C9"/>
                    </a:solidFill>
                  </a:tcPr>
                </a:tc>
                <a:tc>
                  <a:txBody>
                    <a:bodyPr/>
                    <a:p>
                      <a:pPr algn="ctr" fontAlgn="b"/>
                      <a:r>
                        <a:rPr sz="800" b="0" i="0">
                          <a:solidFill>
                            <a:srgbClr val="000000"/>
                          </a:solidFill>
                          <a:latin typeface="Calibri" panose="020F0502020204030204"/>
                          <a:ea typeface="Calibri" panose="020F0502020204030204"/>
                        </a:rPr>
                        <a:t>INT[1], encoder interrupt trigger pin</a:t>
                      </a:r>
                      <a:endParaRPr sz="800" b="0" i="0">
                        <a:solidFill>
                          <a:srgbClr val="000000"/>
                        </a:solidFill>
                        <a:latin typeface="Calibri" panose="020F0502020204030204"/>
                        <a:ea typeface="Calibri" panose="020F0502020204030204"/>
                      </a:endParaRPr>
                    </a:p>
                  </a:txBody>
                  <a:tcPr marL="9842" marR="9842" marT="9842" marB="0" anchor="b" anchorCtr="0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solidFill>
                      <a:srgbClr val="C9C9C9"/>
                    </a:solidFill>
                  </a:tcPr>
                </a:tc>
              </a:tr>
              <a:tr h="155575">
                <a:tc>
                  <a:txBody>
                    <a:bodyPr/>
                    <a:p>
                      <a:pPr algn="ctr" fontAlgn="b"/>
                      <a:r>
                        <a:rPr sz="800" b="0" i="0">
                          <a:solidFill>
                            <a:srgbClr val="000000"/>
                          </a:solidFill>
                          <a:latin typeface="Calibri" panose="020F0502020204030204"/>
                          <a:ea typeface="Calibri" panose="020F0502020204030204"/>
                        </a:rPr>
                        <a:t>3</a:t>
                      </a:r>
                      <a:endParaRPr sz="800" b="0" i="0">
                        <a:solidFill>
                          <a:srgbClr val="000000"/>
                        </a:solidFill>
                        <a:latin typeface="Calibri" panose="020F0502020204030204"/>
                        <a:ea typeface="Calibri" panose="020F0502020204030204"/>
                      </a:endParaRPr>
                    </a:p>
                  </a:txBody>
                  <a:tcPr marL="9842" marR="9842" marT="9842" marB="0" anchor="b" anchorCtr="0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solidFill>
                      <a:srgbClr val="C9C9C9"/>
                    </a:solidFill>
                  </a:tcPr>
                </a:tc>
                <a:tc>
                  <a:txBody>
                    <a:bodyPr/>
                    <a:p>
                      <a:pPr algn="ctr" fontAlgn="b"/>
                      <a:r>
                        <a:rPr sz="800" b="0" i="0">
                          <a:solidFill>
                            <a:srgbClr val="000000"/>
                          </a:solidFill>
                          <a:latin typeface="Calibri" panose="020F0502020204030204"/>
                          <a:ea typeface="Calibri" panose="020F0502020204030204"/>
                        </a:rPr>
                        <a:t>Motor B PIN1</a:t>
                      </a:r>
                      <a:endParaRPr sz="800" b="0" i="0">
                        <a:solidFill>
                          <a:srgbClr val="000000"/>
                        </a:solidFill>
                        <a:latin typeface="Calibri" panose="020F0502020204030204"/>
                        <a:ea typeface="Calibri" panose="020F0502020204030204"/>
                      </a:endParaRPr>
                    </a:p>
                  </a:txBody>
                  <a:tcPr marL="9842" marR="9842" marT="9842" marB="0" anchor="b" anchorCtr="0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solidFill>
                      <a:srgbClr val="C9C9C9"/>
                    </a:solidFill>
                  </a:tcPr>
                </a:tc>
                <a:tc>
                  <a:txBody>
                    <a:bodyPr/>
                    <a:p>
                      <a:pPr algn="ctr" fontAlgn="b"/>
                      <a:r>
                        <a:rPr sz="800" b="0" i="0">
                          <a:solidFill>
                            <a:srgbClr val="000000"/>
                          </a:solidFill>
                          <a:latin typeface="Calibri" panose="020F0502020204030204"/>
                          <a:ea typeface="Calibri" panose="020F0502020204030204"/>
                        </a:rPr>
                        <a:t>INT[0], encoder interrupt trigger pin</a:t>
                      </a:r>
                      <a:endParaRPr sz="800" b="0" i="0">
                        <a:solidFill>
                          <a:srgbClr val="000000"/>
                        </a:solidFill>
                        <a:latin typeface="Calibri" panose="020F0502020204030204"/>
                        <a:ea typeface="Calibri" panose="020F0502020204030204"/>
                      </a:endParaRPr>
                    </a:p>
                  </a:txBody>
                  <a:tcPr marL="9842" marR="9842" marT="9842" marB="0" anchor="b" anchorCtr="0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solidFill>
                      <a:srgbClr val="C9C9C9"/>
                    </a:solidFill>
                  </a:tcPr>
                </a:tc>
              </a:tr>
              <a:tr h="155575">
                <a:tc>
                  <a:txBody>
                    <a:bodyPr/>
                    <a:p>
                      <a:pPr algn="ctr" fontAlgn="b"/>
                      <a:r>
                        <a:rPr sz="800" b="0" i="0">
                          <a:solidFill>
                            <a:srgbClr val="000000"/>
                          </a:solidFill>
                          <a:latin typeface="Calibri" panose="020F0502020204030204"/>
                          <a:ea typeface="Calibri" panose="020F0502020204030204"/>
                        </a:rPr>
                        <a:t>4</a:t>
                      </a:r>
                      <a:endParaRPr sz="800" b="0" i="0">
                        <a:solidFill>
                          <a:srgbClr val="000000"/>
                        </a:solidFill>
                        <a:latin typeface="Calibri" panose="020F0502020204030204"/>
                        <a:ea typeface="Calibri" panose="020F0502020204030204"/>
                      </a:endParaRPr>
                    </a:p>
                  </a:txBody>
                  <a:tcPr marL="9842" marR="9842" marT="9842" marB="0" anchor="b" anchorCtr="0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solidFill>
                      <a:srgbClr val="9BC2E6"/>
                    </a:solidFill>
                  </a:tcPr>
                </a:tc>
                <a:tc>
                  <a:txBody>
                    <a:bodyPr/>
                    <a:p>
                      <a:pPr algn="ctr" fontAlgn="b"/>
                      <a:r>
                        <a:rPr sz="800" b="0" i="0">
                          <a:solidFill>
                            <a:srgbClr val="000000"/>
                          </a:solidFill>
                          <a:latin typeface="Calibri" panose="020F0502020204030204"/>
                          <a:ea typeface="Calibri" panose="020F0502020204030204"/>
                        </a:rPr>
                        <a:t>HC-05 RX</a:t>
                      </a:r>
                      <a:endParaRPr sz="800" b="0" i="0">
                        <a:solidFill>
                          <a:srgbClr val="000000"/>
                        </a:solidFill>
                        <a:latin typeface="Calibri" panose="020F0502020204030204"/>
                        <a:ea typeface="Calibri" panose="020F0502020204030204"/>
                      </a:endParaRPr>
                    </a:p>
                  </a:txBody>
                  <a:tcPr marL="9842" marR="9842" marT="9842" marB="0" anchor="b" anchorCtr="0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solidFill>
                      <a:srgbClr val="9BC2E6"/>
                    </a:solidFill>
                  </a:tcPr>
                </a:tc>
                <a:tc>
                  <a:txBody>
                    <a:bodyPr/>
                    <a:p>
                      <a:pPr algn="ctr" fontAlgn="b"/>
                      <a:r>
                        <a:rPr sz="800" b="0" i="0">
                          <a:solidFill>
                            <a:srgbClr val="000000"/>
                          </a:solidFill>
                          <a:latin typeface="Calibri" panose="020F0502020204030204"/>
                          <a:ea typeface="Calibri" panose="020F0502020204030204"/>
                        </a:rPr>
                        <a:t>Blue tooth RX pin</a:t>
                      </a:r>
                      <a:endParaRPr sz="800" b="0" i="0">
                        <a:solidFill>
                          <a:srgbClr val="000000"/>
                        </a:solidFill>
                        <a:latin typeface="Calibri" panose="020F0502020204030204"/>
                        <a:ea typeface="Calibri" panose="020F0502020204030204"/>
                      </a:endParaRPr>
                    </a:p>
                  </a:txBody>
                  <a:tcPr marL="9842" marR="9842" marT="9842" marB="0" anchor="b" anchorCtr="0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solidFill>
                      <a:srgbClr val="9BC2E6"/>
                    </a:solidFill>
                  </a:tcPr>
                </a:tc>
              </a:tr>
              <a:tr h="155575">
                <a:tc>
                  <a:txBody>
                    <a:bodyPr/>
                    <a:p>
                      <a:pPr algn="ctr" fontAlgn="b"/>
                      <a:r>
                        <a:rPr sz="800" b="0" i="0">
                          <a:solidFill>
                            <a:srgbClr val="000000"/>
                          </a:solidFill>
                          <a:latin typeface="Calibri" panose="020F0502020204030204"/>
                          <a:ea typeface="Calibri" panose="020F0502020204030204"/>
                        </a:rPr>
                        <a:t>5</a:t>
                      </a:r>
                      <a:endParaRPr sz="800" b="0" i="0">
                        <a:solidFill>
                          <a:srgbClr val="000000"/>
                        </a:solidFill>
                        <a:latin typeface="Calibri" panose="020F0502020204030204"/>
                        <a:ea typeface="Calibri" panose="020F0502020204030204"/>
                      </a:endParaRPr>
                    </a:p>
                  </a:txBody>
                  <a:tcPr marL="9842" marR="9842" marT="9842" marB="0" anchor="b" anchorCtr="0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solidFill>
                      <a:srgbClr val="9BC2E6"/>
                    </a:solidFill>
                  </a:tcPr>
                </a:tc>
                <a:tc>
                  <a:txBody>
                    <a:bodyPr/>
                    <a:p>
                      <a:pPr algn="ctr" fontAlgn="b"/>
                      <a:r>
                        <a:rPr sz="800" b="0" i="0">
                          <a:solidFill>
                            <a:srgbClr val="000000"/>
                          </a:solidFill>
                          <a:latin typeface="Calibri" panose="020F0502020204030204"/>
                          <a:ea typeface="Calibri" panose="020F0502020204030204"/>
                        </a:rPr>
                        <a:t>HC-05TX</a:t>
                      </a:r>
                      <a:endParaRPr sz="800" b="0" i="0">
                        <a:solidFill>
                          <a:srgbClr val="000000"/>
                        </a:solidFill>
                        <a:latin typeface="Calibri" panose="020F0502020204030204"/>
                        <a:ea typeface="Calibri" panose="020F0502020204030204"/>
                      </a:endParaRPr>
                    </a:p>
                  </a:txBody>
                  <a:tcPr marL="9842" marR="9842" marT="9842" marB="0" anchor="b" anchorCtr="0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solidFill>
                      <a:srgbClr val="9BC2E6"/>
                    </a:solidFill>
                  </a:tcPr>
                </a:tc>
                <a:tc>
                  <a:txBody>
                    <a:bodyPr/>
                    <a:p>
                      <a:pPr algn="ctr" fontAlgn="b"/>
                      <a:r>
                        <a:rPr sz="800" b="0" i="0">
                          <a:solidFill>
                            <a:srgbClr val="000000"/>
                          </a:solidFill>
                          <a:latin typeface="Calibri" panose="020F0502020204030204"/>
                          <a:ea typeface="Calibri" panose="020F0502020204030204"/>
                        </a:rPr>
                        <a:t>Blue tooth TX pin</a:t>
                      </a:r>
                      <a:endParaRPr sz="800" b="0" i="0">
                        <a:solidFill>
                          <a:srgbClr val="000000"/>
                        </a:solidFill>
                        <a:latin typeface="Calibri" panose="020F0502020204030204"/>
                        <a:ea typeface="Calibri" panose="020F0502020204030204"/>
                      </a:endParaRPr>
                    </a:p>
                  </a:txBody>
                  <a:tcPr marL="9842" marR="9842" marT="9842" marB="0" anchor="b" anchorCtr="0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solidFill>
                      <a:srgbClr val="9BC2E6"/>
                    </a:solidFill>
                  </a:tcPr>
                </a:tc>
              </a:tr>
              <a:tr h="155575">
                <a:tc>
                  <a:txBody>
                    <a:bodyPr/>
                    <a:p>
                      <a:pPr algn="ctr" fontAlgn="b"/>
                      <a:r>
                        <a:rPr sz="800" b="0" i="0">
                          <a:solidFill>
                            <a:srgbClr val="000000"/>
                          </a:solidFill>
                          <a:latin typeface="Calibri" panose="020F0502020204030204"/>
                          <a:ea typeface="Calibri" panose="020F0502020204030204"/>
                        </a:rPr>
                        <a:t>6</a:t>
                      </a:r>
                      <a:endParaRPr sz="800" b="0" i="0">
                        <a:solidFill>
                          <a:srgbClr val="000000"/>
                        </a:solidFill>
                        <a:latin typeface="Calibri" panose="020F0502020204030204"/>
                        <a:ea typeface="Calibri" panose="020F0502020204030204"/>
                      </a:endParaRPr>
                    </a:p>
                  </a:txBody>
                  <a:tcPr marL="9842" marR="9842" marT="9842" marB="0" anchor="b" anchorCtr="0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solidFill>
                      <a:srgbClr val="A9D08E"/>
                    </a:solidFill>
                  </a:tcPr>
                </a:tc>
                <a:tc>
                  <a:txBody>
                    <a:bodyPr/>
                    <a:p>
                      <a:pPr algn="ctr" fontAlgn="b"/>
                      <a:r>
                        <a:rPr sz="800" b="0" i="0">
                          <a:solidFill>
                            <a:srgbClr val="000000"/>
                          </a:solidFill>
                          <a:latin typeface="Calibri" panose="020F0502020204030204"/>
                          <a:ea typeface="Calibri" panose="020F0502020204030204"/>
                        </a:rPr>
                        <a:t>TB6612 BIN2</a:t>
                      </a:r>
                      <a:endParaRPr sz="800" b="0" i="0">
                        <a:solidFill>
                          <a:srgbClr val="000000"/>
                        </a:solidFill>
                        <a:latin typeface="Calibri" panose="020F0502020204030204"/>
                        <a:ea typeface="Calibri" panose="020F0502020204030204"/>
                      </a:endParaRPr>
                    </a:p>
                  </a:txBody>
                  <a:tcPr marL="9842" marR="9842" marT="9842" marB="0" anchor="b" anchorCtr="0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solidFill>
                      <a:srgbClr val="A9D08E"/>
                    </a:solidFill>
                  </a:tcPr>
                </a:tc>
                <a:tc>
                  <a:txBody>
                    <a:bodyPr/>
                    <a:p>
                      <a:pPr algn="ctr" fontAlgn="b"/>
                      <a:r>
                        <a:rPr sz="800" b="0" i="0">
                          <a:solidFill>
                            <a:srgbClr val="000000"/>
                          </a:solidFill>
                          <a:latin typeface="Calibri" panose="020F0502020204030204"/>
                          <a:ea typeface="Calibri" panose="020F0502020204030204"/>
                        </a:rPr>
                        <a:t>Motor B direction control</a:t>
                      </a:r>
                      <a:endParaRPr sz="800" b="0" i="0">
                        <a:solidFill>
                          <a:srgbClr val="000000"/>
                        </a:solidFill>
                        <a:latin typeface="Calibri" panose="020F0502020204030204"/>
                        <a:ea typeface="Calibri" panose="020F0502020204030204"/>
                      </a:endParaRPr>
                    </a:p>
                  </a:txBody>
                  <a:tcPr marL="9842" marR="9842" marT="9842" marB="0" anchor="b" anchorCtr="0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solidFill>
                      <a:srgbClr val="A9D08E"/>
                    </a:solidFill>
                  </a:tcPr>
                </a:tc>
              </a:tr>
              <a:tr h="155575">
                <a:tc>
                  <a:txBody>
                    <a:bodyPr/>
                    <a:p>
                      <a:pPr algn="ctr" fontAlgn="b"/>
                      <a:r>
                        <a:rPr sz="800" b="0" i="0">
                          <a:solidFill>
                            <a:srgbClr val="000000"/>
                          </a:solidFill>
                          <a:latin typeface="Calibri" panose="020F0502020204030204"/>
                          <a:ea typeface="Calibri" panose="020F0502020204030204"/>
                        </a:rPr>
                        <a:t>7</a:t>
                      </a:r>
                      <a:endParaRPr sz="800" b="0" i="0">
                        <a:solidFill>
                          <a:srgbClr val="000000"/>
                        </a:solidFill>
                        <a:latin typeface="Calibri" panose="020F0502020204030204"/>
                        <a:ea typeface="Calibri" panose="020F0502020204030204"/>
                      </a:endParaRPr>
                    </a:p>
                  </a:txBody>
                  <a:tcPr marL="9842" marR="9842" marT="9842" marB="0" anchor="b" anchorCtr="0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solidFill>
                      <a:srgbClr val="A9D08E"/>
                    </a:solidFill>
                  </a:tcPr>
                </a:tc>
                <a:tc>
                  <a:txBody>
                    <a:bodyPr/>
                    <a:p>
                      <a:pPr algn="ctr" fontAlgn="b"/>
                      <a:r>
                        <a:rPr sz="800" b="0" i="0">
                          <a:solidFill>
                            <a:srgbClr val="000000"/>
                          </a:solidFill>
                          <a:latin typeface="Calibri" panose="020F0502020204030204"/>
                          <a:ea typeface="Calibri" panose="020F0502020204030204"/>
                        </a:rPr>
                        <a:t>TB6612 BIN1</a:t>
                      </a:r>
                      <a:endParaRPr sz="800" b="0" i="0">
                        <a:solidFill>
                          <a:srgbClr val="000000"/>
                        </a:solidFill>
                        <a:latin typeface="Calibri" panose="020F0502020204030204"/>
                        <a:ea typeface="Calibri" panose="020F0502020204030204"/>
                      </a:endParaRPr>
                    </a:p>
                  </a:txBody>
                  <a:tcPr marL="9842" marR="9842" marT="9842" marB="0" anchor="b" anchorCtr="0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solidFill>
                      <a:srgbClr val="A9D08E"/>
                    </a:solidFill>
                  </a:tcPr>
                </a:tc>
                <a:tc>
                  <a:txBody>
                    <a:bodyPr/>
                    <a:p>
                      <a:pPr algn="ctr" fontAlgn="b"/>
                      <a:r>
                        <a:rPr sz="800" b="0" i="0">
                          <a:solidFill>
                            <a:srgbClr val="000000"/>
                          </a:solidFill>
                          <a:latin typeface="Calibri" panose="020F0502020204030204"/>
                          <a:ea typeface="Calibri" panose="020F0502020204030204"/>
                        </a:rPr>
                        <a:t>Motor B direction control</a:t>
                      </a:r>
                      <a:endParaRPr sz="800" b="0" i="0">
                        <a:solidFill>
                          <a:srgbClr val="000000"/>
                        </a:solidFill>
                        <a:latin typeface="Calibri" panose="020F0502020204030204"/>
                        <a:ea typeface="Calibri" panose="020F0502020204030204"/>
                      </a:endParaRPr>
                    </a:p>
                  </a:txBody>
                  <a:tcPr marL="9842" marR="9842" marT="9842" marB="0" anchor="b" anchorCtr="0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solidFill>
                      <a:srgbClr val="A9D08E"/>
                    </a:solidFill>
                  </a:tcPr>
                </a:tc>
              </a:tr>
              <a:tr h="155575">
                <a:tc>
                  <a:txBody>
                    <a:bodyPr/>
                    <a:p>
                      <a:pPr algn="ctr" fontAlgn="b"/>
                      <a:r>
                        <a:rPr sz="800" b="0" i="0">
                          <a:solidFill>
                            <a:srgbClr val="000000"/>
                          </a:solidFill>
                          <a:latin typeface="Calibri" panose="020F0502020204030204"/>
                          <a:ea typeface="Calibri" panose="020F0502020204030204"/>
                        </a:rPr>
                        <a:t>8</a:t>
                      </a:r>
                      <a:endParaRPr sz="800" b="0" i="0">
                        <a:solidFill>
                          <a:srgbClr val="000000"/>
                        </a:solidFill>
                        <a:latin typeface="Calibri" panose="020F0502020204030204"/>
                        <a:ea typeface="Calibri" panose="020F0502020204030204"/>
                      </a:endParaRPr>
                    </a:p>
                  </a:txBody>
                  <a:tcPr marL="9842" marR="9842" marT="9842" marB="0" anchor="b" anchorCtr="0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solidFill>
                      <a:srgbClr val="F4B084"/>
                    </a:solidFill>
                  </a:tcPr>
                </a:tc>
                <a:tc>
                  <a:txBody>
                    <a:bodyPr/>
                    <a:p>
                      <a:pPr algn="ctr" fontAlgn="b"/>
                      <a:r>
                        <a:rPr sz="800" b="0" i="0">
                          <a:solidFill>
                            <a:srgbClr val="000000"/>
                          </a:solidFill>
                          <a:latin typeface="Calibri" panose="020F0502020204030204"/>
                          <a:ea typeface="Calibri" panose="020F0502020204030204"/>
                        </a:rPr>
                        <a:t>HC-SRO4 ECHO</a:t>
                      </a:r>
                      <a:endParaRPr sz="800" b="0" i="0">
                        <a:solidFill>
                          <a:srgbClr val="000000"/>
                        </a:solidFill>
                        <a:latin typeface="Calibri" panose="020F0502020204030204"/>
                        <a:ea typeface="Calibri" panose="020F0502020204030204"/>
                      </a:endParaRPr>
                    </a:p>
                  </a:txBody>
                  <a:tcPr marL="9842" marR="9842" marT="9842" marB="0" anchor="b" anchorCtr="0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solidFill>
                      <a:srgbClr val="F4B084"/>
                    </a:solidFill>
                  </a:tcPr>
                </a:tc>
                <a:tc>
                  <a:txBody>
                    <a:bodyPr/>
                    <a:p>
                      <a:pPr algn="ctr" fontAlgn="b"/>
                      <a:r>
                        <a:rPr sz="800" b="0" i="0">
                          <a:solidFill>
                            <a:srgbClr val="000000"/>
                          </a:solidFill>
                          <a:latin typeface="Calibri" panose="020F0502020204030204"/>
                          <a:ea typeface="Calibri" panose="020F0502020204030204"/>
                        </a:rPr>
                        <a:t>ultrasonic echo</a:t>
                      </a:r>
                      <a:endParaRPr sz="800" b="0" i="0">
                        <a:solidFill>
                          <a:srgbClr val="000000"/>
                        </a:solidFill>
                        <a:latin typeface="Calibri" panose="020F0502020204030204"/>
                        <a:ea typeface="Calibri" panose="020F0502020204030204"/>
                      </a:endParaRPr>
                    </a:p>
                  </a:txBody>
                  <a:tcPr marL="9842" marR="9842" marT="9842" marB="0" anchor="b" anchorCtr="0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solidFill>
                      <a:srgbClr val="F4B084"/>
                    </a:solidFill>
                  </a:tcPr>
                </a:tc>
              </a:tr>
              <a:tr h="155575">
                <a:tc>
                  <a:txBody>
                    <a:bodyPr/>
                    <a:p>
                      <a:pPr algn="ctr" fontAlgn="b"/>
                      <a:r>
                        <a:rPr sz="800" b="0" i="0">
                          <a:solidFill>
                            <a:srgbClr val="000000"/>
                          </a:solidFill>
                          <a:latin typeface="Calibri" panose="020F0502020204030204"/>
                          <a:ea typeface="Calibri" panose="020F0502020204030204"/>
                        </a:rPr>
                        <a:t>9</a:t>
                      </a:r>
                      <a:endParaRPr sz="800" b="0" i="0">
                        <a:solidFill>
                          <a:srgbClr val="000000"/>
                        </a:solidFill>
                        <a:latin typeface="Calibri" panose="020F0502020204030204"/>
                        <a:ea typeface="Calibri" panose="020F0502020204030204"/>
                      </a:endParaRPr>
                    </a:p>
                  </a:txBody>
                  <a:tcPr marL="9842" marR="9842" marT="9842" marB="0" anchor="b" anchorCtr="0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solidFill>
                      <a:srgbClr val="F4B084"/>
                    </a:solidFill>
                  </a:tcPr>
                </a:tc>
                <a:tc>
                  <a:txBody>
                    <a:bodyPr/>
                    <a:p>
                      <a:pPr algn="ctr" fontAlgn="b"/>
                      <a:r>
                        <a:rPr sz="800" b="0" i="0">
                          <a:solidFill>
                            <a:srgbClr val="000000"/>
                          </a:solidFill>
                          <a:latin typeface="Calibri" panose="020F0502020204030204"/>
                          <a:ea typeface="Calibri" panose="020F0502020204030204"/>
                        </a:rPr>
                        <a:t>HC-SRO4 TRIG</a:t>
                      </a:r>
                      <a:endParaRPr sz="800" b="0" i="0">
                        <a:solidFill>
                          <a:srgbClr val="000000"/>
                        </a:solidFill>
                        <a:latin typeface="Calibri" panose="020F0502020204030204"/>
                        <a:ea typeface="Calibri" panose="020F0502020204030204"/>
                      </a:endParaRPr>
                    </a:p>
                  </a:txBody>
                  <a:tcPr marL="9842" marR="9842" marT="9842" marB="0" anchor="b" anchorCtr="0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solidFill>
                      <a:srgbClr val="F4B084"/>
                    </a:solidFill>
                  </a:tcPr>
                </a:tc>
                <a:tc>
                  <a:txBody>
                    <a:bodyPr/>
                    <a:p>
                      <a:pPr algn="ctr" fontAlgn="b"/>
                      <a:r>
                        <a:rPr sz="800" b="0" i="0">
                          <a:solidFill>
                            <a:srgbClr val="000000"/>
                          </a:solidFill>
                          <a:latin typeface="Calibri" panose="020F0502020204030204"/>
                          <a:ea typeface="Calibri" panose="020F0502020204030204"/>
                        </a:rPr>
                        <a:t>ultrasonic trigger</a:t>
                      </a:r>
                      <a:endParaRPr sz="800" b="0" i="0">
                        <a:solidFill>
                          <a:srgbClr val="000000"/>
                        </a:solidFill>
                        <a:latin typeface="Calibri" panose="020F0502020204030204"/>
                        <a:ea typeface="Calibri" panose="020F0502020204030204"/>
                      </a:endParaRPr>
                    </a:p>
                  </a:txBody>
                  <a:tcPr marL="9842" marR="9842" marT="9842" marB="0" anchor="b" anchorCtr="0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solidFill>
                      <a:srgbClr val="F4B084"/>
                    </a:solidFill>
                  </a:tcPr>
                </a:tc>
              </a:tr>
              <a:tr h="155575">
                <a:tc>
                  <a:txBody>
                    <a:bodyPr/>
                    <a:p>
                      <a:pPr algn="ctr" fontAlgn="b"/>
                      <a:r>
                        <a:rPr sz="800" b="0" i="0">
                          <a:solidFill>
                            <a:srgbClr val="000000"/>
                          </a:solidFill>
                          <a:latin typeface="Calibri" panose="020F0502020204030204"/>
                          <a:ea typeface="Calibri" panose="020F0502020204030204"/>
                        </a:rPr>
                        <a:t>10</a:t>
                      </a:r>
                      <a:endParaRPr sz="800" b="0" i="0">
                        <a:solidFill>
                          <a:srgbClr val="000000"/>
                        </a:solidFill>
                        <a:latin typeface="Calibri" panose="020F0502020204030204"/>
                        <a:ea typeface="Calibri" panose="020F0502020204030204"/>
                      </a:endParaRPr>
                    </a:p>
                  </a:txBody>
                  <a:tcPr marL="9842" marR="9842" marT="9842" marB="0" anchor="b" anchorCtr="0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solidFill>
                      <a:srgbClr val="A9D08E"/>
                    </a:solidFill>
                  </a:tcPr>
                </a:tc>
                <a:tc>
                  <a:txBody>
                    <a:bodyPr/>
                    <a:p>
                      <a:pPr algn="ctr" fontAlgn="b"/>
                      <a:r>
                        <a:rPr sz="800" b="0" i="0">
                          <a:solidFill>
                            <a:srgbClr val="000000"/>
                          </a:solidFill>
                          <a:latin typeface="Calibri" panose="020F0502020204030204"/>
                          <a:ea typeface="Calibri" panose="020F0502020204030204"/>
                        </a:rPr>
                        <a:t>TB6612 PWMB</a:t>
                      </a:r>
                      <a:endParaRPr sz="800" b="0" i="0">
                        <a:solidFill>
                          <a:srgbClr val="000000"/>
                        </a:solidFill>
                        <a:latin typeface="Calibri" panose="020F0502020204030204"/>
                        <a:ea typeface="Calibri" panose="020F0502020204030204"/>
                      </a:endParaRPr>
                    </a:p>
                  </a:txBody>
                  <a:tcPr marL="9842" marR="9842" marT="9842" marB="0" anchor="b" anchorCtr="0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solidFill>
                      <a:srgbClr val="A9D08E"/>
                    </a:solidFill>
                  </a:tcPr>
                </a:tc>
                <a:tc>
                  <a:txBody>
                    <a:bodyPr/>
                    <a:p>
                      <a:pPr algn="ctr" fontAlgn="b"/>
                      <a:r>
                        <a:rPr sz="800" b="0" i="0">
                          <a:solidFill>
                            <a:srgbClr val="000000"/>
                          </a:solidFill>
                          <a:latin typeface="Calibri" panose="020F0502020204030204"/>
                          <a:ea typeface="Calibri" panose="020F0502020204030204"/>
                        </a:rPr>
                        <a:t>PWM output, Motor B speed control</a:t>
                      </a:r>
                      <a:endParaRPr sz="800" b="0" i="0">
                        <a:solidFill>
                          <a:srgbClr val="000000"/>
                        </a:solidFill>
                        <a:latin typeface="Calibri" panose="020F0502020204030204"/>
                        <a:ea typeface="Calibri" panose="020F0502020204030204"/>
                      </a:endParaRPr>
                    </a:p>
                  </a:txBody>
                  <a:tcPr marL="9842" marR="9842" marT="9842" marB="0" anchor="b" anchorCtr="0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solidFill>
                      <a:srgbClr val="A9D08E"/>
                    </a:solidFill>
                  </a:tcPr>
                </a:tc>
              </a:tr>
              <a:tr h="155575">
                <a:tc>
                  <a:txBody>
                    <a:bodyPr/>
                    <a:p>
                      <a:pPr algn="ctr" fontAlgn="b"/>
                      <a:r>
                        <a:rPr sz="800" b="0" i="0">
                          <a:solidFill>
                            <a:srgbClr val="000000"/>
                          </a:solidFill>
                          <a:latin typeface="Calibri" panose="020F0502020204030204"/>
                          <a:ea typeface="Calibri" panose="020F0502020204030204"/>
                        </a:rPr>
                        <a:t>11</a:t>
                      </a:r>
                      <a:endParaRPr sz="800" b="0" i="0">
                        <a:solidFill>
                          <a:srgbClr val="000000"/>
                        </a:solidFill>
                        <a:latin typeface="Calibri" panose="020F0502020204030204"/>
                        <a:ea typeface="Calibri" panose="020F0502020204030204"/>
                      </a:endParaRPr>
                    </a:p>
                  </a:txBody>
                  <a:tcPr marL="9842" marR="9842" marT="9842" marB="0" anchor="b" anchorCtr="0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solidFill>
                      <a:srgbClr val="A9D08E"/>
                    </a:solidFill>
                  </a:tcPr>
                </a:tc>
                <a:tc>
                  <a:txBody>
                    <a:bodyPr/>
                    <a:p>
                      <a:pPr algn="ctr" fontAlgn="b"/>
                      <a:r>
                        <a:rPr sz="800" b="0" i="0">
                          <a:solidFill>
                            <a:srgbClr val="000000"/>
                          </a:solidFill>
                          <a:latin typeface="Calibri" panose="020F0502020204030204"/>
                          <a:ea typeface="Calibri" panose="020F0502020204030204"/>
                        </a:rPr>
                        <a:t>TB6612 PWMA</a:t>
                      </a:r>
                      <a:endParaRPr sz="800" b="0" i="0">
                        <a:solidFill>
                          <a:srgbClr val="000000"/>
                        </a:solidFill>
                        <a:latin typeface="Calibri" panose="020F0502020204030204"/>
                        <a:ea typeface="Calibri" panose="020F0502020204030204"/>
                      </a:endParaRPr>
                    </a:p>
                  </a:txBody>
                  <a:tcPr marL="9842" marR="9842" marT="9842" marB="0" anchor="b" anchorCtr="0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solidFill>
                      <a:srgbClr val="A9D08E"/>
                    </a:solidFill>
                  </a:tcPr>
                </a:tc>
                <a:tc>
                  <a:txBody>
                    <a:bodyPr/>
                    <a:p>
                      <a:pPr algn="ctr" fontAlgn="b"/>
                      <a:r>
                        <a:rPr sz="800" b="0" i="0">
                          <a:solidFill>
                            <a:srgbClr val="000000"/>
                          </a:solidFill>
                          <a:latin typeface="Calibri" panose="020F0502020204030204"/>
                          <a:ea typeface="Calibri" panose="020F0502020204030204"/>
                        </a:rPr>
                        <a:t>PWM output, Motor A speed control</a:t>
                      </a:r>
                      <a:endParaRPr sz="800" b="0" i="0">
                        <a:solidFill>
                          <a:srgbClr val="000000"/>
                        </a:solidFill>
                        <a:latin typeface="Calibri" panose="020F0502020204030204"/>
                        <a:ea typeface="Calibri" panose="020F0502020204030204"/>
                      </a:endParaRPr>
                    </a:p>
                  </a:txBody>
                  <a:tcPr marL="9842" marR="9842" marT="9842" marB="0" anchor="b" anchorCtr="0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solidFill>
                      <a:srgbClr val="A9D08E"/>
                    </a:solidFill>
                  </a:tcPr>
                </a:tc>
              </a:tr>
              <a:tr h="155575">
                <a:tc>
                  <a:txBody>
                    <a:bodyPr/>
                    <a:p>
                      <a:pPr algn="ctr" fontAlgn="b"/>
                      <a:r>
                        <a:rPr sz="800" b="0" i="0">
                          <a:solidFill>
                            <a:srgbClr val="000000"/>
                          </a:solidFill>
                          <a:latin typeface="Calibri" panose="020F0502020204030204"/>
                          <a:ea typeface="Calibri" panose="020F0502020204030204"/>
                        </a:rPr>
                        <a:t>12</a:t>
                      </a:r>
                      <a:endParaRPr sz="800" b="0" i="0">
                        <a:solidFill>
                          <a:srgbClr val="000000"/>
                        </a:solidFill>
                        <a:latin typeface="Calibri" panose="020F0502020204030204"/>
                        <a:ea typeface="Calibri" panose="020F0502020204030204"/>
                      </a:endParaRPr>
                    </a:p>
                  </a:txBody>
                  <a:tcPr marL="9842" marR="9842" marT="9842" marB="0" anchor="b" anchorCtr="0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solidFill>
                      <a:srgbClr val="A9D08E"/>
                    </a:solidFill>
                  </a:tcPr>
                </a:tc>
                <a:tc>
                  <a:txBody>
                    <a:bodyPr/>
                    <a:p>
                      <a:pPr algn="ctr" fontAlgn="b"/>
                      <a:r>
                        <a:rPr sz="800" b="0" i="0">
                          <a:solidFill>
                            <a:srgbClr val="000000"/>
                          </a:solidFill>
                          <a:latin typeface="Calibri" panose="020F0502020204030204"/>
                          <a:ea typeface="Calibri" panose="020F0502020204030204"/>
                        </a:rPr>
                        <a:t>TB6612 AIN1</a:t>
                      </a:r>
                      <a:endParaRPr sz="800" b="0" i="0">
                        <a:solidFill>
                          <a:srgbClr val="000000"/>
                        </a:solidFill>
                        <a:latin typeface="Calibri" panose="020F0502020204030204"/>
                        <a:ea typeface="Calibri" panose="020F0502020204030204"/>
                      </a:endParaRPr>
                    </a:p>
                  </a:txBody>
                  <a:tcPr marL="9842" marR="9842" marT="9842" marB="0" anchor="b" anchorCtr="0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solidFill>
                      <a:srgbClr val="A9D08E"/>
                    </a:solidFill>
                  </a:tcPr>
                </a:tc>
                <a:tc>
                  <a:txBody>
                    <a:bodyPr/>
                    <a:p>
                      <a:pPr algn="ctr" fontAlgn="b"/>
                      <a:r>
                        <a:rPr sz="800" b="0" i="0">
                          <a:solidFill>
                            <a:srgbClr val="000000"/>
                          </a:solidFill>
                          <a:latin typeface="Calibri" panose="020F0502020204030204"/>
                          <a:ea typeface="Calibri" panose="020F0502020204030204"/>
                        </a:rPr>
                        <a:t>Motor A direction control</a:t>
                      </a:r>
                      <a:endParaRPr sz="800" b="0" i="0">
                        <a:solidFill>
                          <a:srgbClr val="000000"/>
                        </a:solidFill>
                        <a:latin typeface="Calibri" panose="020F0502020204030204"/>
                        <a:ea typeface="Calibri" panose="020F0502020204030204"/>
                      </a:endParaRPr>
                    </a:p>
                  </a:txBody>
                  <a:tcPr marL="9842" marR="9842" marT="9842" marB="0" anchor="b" anchorCtr="0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solidFill>
                      <a:srgbClr val="A9D08E"/>
                    </a:solidFill>
                  </a:tcPr>
                </a:tc>
              </a:tr>
              <a:tr h="155575">
                <a:tc>
                  <a:txBody>
                    <a:bodyPr/>
                    <a:p>
                      <a:pPr algn="ctr" fontAlgn="b"/>
                      <a:r>
                        <a:rPr sz="800" b="0" i="0">
                          <a:solidFill>
                            <a:srgbClr val="000000"/>
                          </a:solidFill>
                          <a:latin typeface="Calibri" panose="020F0502020204030204"/>
                          <a:ea typeface="Calibri" panose="020F0502020204030204"/>
                        </a:rPr>
                        <a:t>13</a:t>
                      </a:r>
                      <a:endParaRPr sz="800" b="0" i="0">
                        <a:solidFill>
                          <a:srgbClr val="000000"/>
                        </a:solidFill>
                        <a:latin typeface="Calibri" panose="020F0502020204030204"/>
                        <a:ea typeface="Calibri" panose="020F0502020204030204"/>
                      </a:endParaRPr>
                    </a:p>
                  </a:txBody>
                  <a:tcPr marL="9842" marR="9842" marT="9842" marB="0" anchor="b" anchorCtr="0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solidFill>
                      <a:srgbClr val="A9D08E"/>
                    </a:solidFill>
                  </a:tcPr>
                </a:tc>
                <a:tc>
                  <a:txBody>
                    <a:bodyPr/>
                    <a:p>
                      <a:pPr algn="ctr" fontAlgn="b"/>
                      <a:r>
                        <a:rPr sz="800" b="0" i="0">
                          <a:solidFill>
                            <a:srgbClr val="000000"/>
                          </a:solidFill>
                          <a:latin typeface="Calibri" panose="020F0502020204030204"/>
                          <a:ea typeface="Calibri" panose="020F0502020204030204"/>
                        </a:rPr>
                        <a:t>TB6612 AIN2</a:t>
                      </a:r>
                      <a:endParaRPr sz="800" b="0" i="0">
                        <a:solidFill>
                          <a:srgbClr val="000000"/>
                        </a:solidFill>
                        <a:latin typeface="Calibri" panose="020F0502020204030204"/>
                        <a:ea typeface="Calibri" panose="020F0502020204030204"/>
                      </a:endParaRPr>
                    </a:p>
                  </a:txBody>
                  <a:tcPr marL="9842" marR="9842" marT="9842" marB="0" anchor="b" anchorCtr="0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solidFill>
                      <a:srgbClr val="A9D08E"/>
                    </a:solidFill>
                  </a:tcPr>
                </a:tc>
                <a:tc>
                  <a:txBody>
                    <a:bodyPr/>
                    <a:p>
                      <a:pPr algn="ctr" fontAlgn="b"/>
                      <a:r>
                        <a:rPr sz="800" b="0" i="0">
                          <a:solidFill>
                            <a:srgbClr val="000000"/>
                          </a:solidFill>
                          <a:latin typeface="Calibri" panose="020F0502020204030204"/>
                          <a:ea typeface="Calibri" panose="020F0502020204030204"/>
                        </a:rPr>
                        <a:t>Motor A direction control</a:t>
                      </a:r>
                      <a:endParaRPr sz="800" b="0" i="0">
                        <a:solidFill>
                          <a:srgbClr val="000000"/>
                        </a:solidFill>
                        <a:latin typeface="Calibri" panose="020F0502020204030204"/>
                        <a:ea typeface="Calibri" panose="020F0502020204030204"/>
                      </a:endParaRPr>
                    </a:p>
                  </a:txBody>
                  <a:tcPr marL="9842" marR="9842" marT="9842" marB="0" anchor="b" anchorCtr="0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solidFill>
                      <a:srgbClr val="A9D08E"/>
                    </a:solidFill>
                  </a:tcPr>
                </a:tc>
              </a:tr>
              <a:tr h="155575">
                <a:tc>
                  <a:txBody>
                    <a:bodyPr/>
                    <a:p>
                      <a:pPr algn="ctr" fontAlgn="b"/>
                      <a:endParaRPr sz="800" b="0" i="0">
                        <a:solidFill>
                          <a:srgbClr val="000000"/>
                        </a:solidFill>
                        <a:latin typeface="Calibri" panose="020F0502020204030204"/>
                        <a:ea typeface="Calibri" panose="020F0502020204030204"/>
                      </a:endParaRPr>
                    </a:p>
                  </a:txBody>
                  <a:tcPr marL="9842" marR="9842" marT="9842" marB="0" anchor="b" anchorCtr="0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tc>
                  <a:txBody>
                    <a:bodyPr/>
                    <a:p>
                      <a:pPr algn="ctr" fontAlgn="b"/>
                      <a:endParaRPr sz="800" b="0" i="0">
                        <a:solidFill>
                          <a:srgbClr val="000000"/>
                        </a:solidFill>
                        <a:latin typeface="Calibri" panose="020F0502020204030204"/>
                        <a:ea typeface="Calibri" panose="020F0502020204030204"/>
                      </a:endParaRPr>
                    </a:p>
                  </a:txBody>
                  <a:tcPr marL="9842" marR="9842" marT="9842" marB="0" anchor="b" anchorCtr="0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tc>
                  <a:txBody>
                    <a:bodyPr/>
                    <a:p>
                      <a:pPr algn="ctr" fontAlgn="b"/>
                      <a:endParaRPr sz="800" b="0" i="0">
                        <a:solidFill>
                          <a:srgbClr val="000000"/>
                        </a:solidFill>
                        <a:latin typeface="Calibri" panose="020F0502020204030204"/>
                        <a:ea typeface="Calibri" panose="020F0502020204030204"/>
                      </a:endParaRPr>
                    </a:p>
                  </a:txBody>
                  <a:tcPr marL="9842" marR="9842" marT="9842" marB="0" anchor="b" anchorCtr="0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</a:tr>
              <a:tr h="155575">
                <a:tc>
                  <a:txBody>
                    <a:bodyPr/>
                    <a:p>
                      <a:pPr algn="ctr" fontAlgn="b"/>
                      <a:r>
                        <a:rPr sz="800" b="0" i="0">
                          <a:solidFill>
                            <a:srgbClr val="000000"/>
                          </a:solidFill>
                          <a:latin typeface="Calibri" panose="020F0502020204030204"/>
                          <a:ea typeface="Calibri" panose="020F0502020204030204"/>
                        </a:rPr>
                        <a:t>Analogue PIN</a:t>
                      </a:r>
                      <a:endParaRPr sz="800" b="0" i="0">
                        <a:solidFill>
                          <a:srgbClr val="000000"/>
                        </a:solidFill>
                        <a:latin typeface="Calibri" panose="020F0502020204030204"/>
                        <a:ea typeface="Calibri" panose="020F0502020204030204"/>
                      </a:endParaRPr>
                    </a:p>
                  </a:txBody>
                  <a:tcPr marL="9842" marR="9842" marT="9842" marB="0" anchor="b" anchorCtr="0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solidFill>
                      <a:srgbClr val="FFFF00"/>
                    </a:solidFill>
                  </a:tcPr>
                </a:tc>
                <a:tc>
                  <a:txBody>
                    <a:bodyPr/>
                    <a:p>
                      <a:pPr algn="ctr" fontAlgn="b"/>
                      <a:endParaRPr sz="800" b="0" i="0">
                        <a:solidFill>
                          <a:srgbClr val="000000"/>
                        </a:solidFill>
                        <a:latin typeface="Calibri" panose="020F0502020204030204"/>
                        <a:ea typeface="Calibri" panose="020F0502020204030204"/>
                      </a:endParaRPr>
                    </a:p>
                  </a:txBody>
                  <a:tcPr marL="9842" marR="9842" marT="9842" marB="0" anchor="b" anchorCtr="0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solidFill>
                      <a:srgbClr val="FFFF00"/>
                    </a:solidFill>
                  </a:tcPr>
                </a:tc>
                <a:tc>
                  <a:txBody>
                    <a:bodyPr/>
                    <a:p>
                      <a:pPr algn="ctr" fontAlgn="b"/>
                      <a:endParaRPr sz="800" b="0" i="0">
                        <a:solidFill>
                          <a:srgbClr val="000000"/>
                        </a:solidFill>
                        <a:latin typeface="Calibri" panose="020F0502020204030204"/>
                        <a:ea typeface="Calibri" panose="020F0502020204030204"/>
                      </a:endParaRPr>
                    </a:p>
                  </a:txBody>
                  <a:tcPr marL="9842" marR="9842" marT="9842" marB="0" anchor="b" anchorCtr="0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solidFill>
                      <a:srgbClr val="FFFF00"/>
                    </a:solidFill>
                  </a:tcPr>
                </a:tc>
              </a:tr>
              <a:tr h="155575">
                <a:tc>
                  <a:txBody>
                    <a:bodyPr/>
                    <a:p>
                      <a:pPr algn="ctr" fontAlgn="b"/>
                      <a:r>
                        <a:rPr sz="800" b="0" i="0">
                          <a:solidFill>
                            <a:srgbClr val="000000"/>
                          </a:solidFill>
                          <a:latin typeface="Calibri" panose="020F0502020204030204"/>
                          <a:ea typeface="Calibri" panose="020F0502020204030204"/>
                        </a:rPr>
                        <a:t>0</a:t>
                      </a:r>
                      <a:endParaRPr sz="800" b="0" i="0">
                        <a:solidFill>
                          <a:srgbClr val="000000"/>
                        </a:solidFill>
                        <a:latin typeface="Calibri" panose="020F0502020204030204"/>
                        <a:ea typeface="Calibri" panose="020F0502020204030204"/>
                      </a:endParaRPr>
                    </a:p>
                  </a:txBody>
                  <a:tcPr marL="9842" marR="9842" marT="9842" marB="0" anchor="b" anchorCtr="0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solidFill>
                      <a:srgbClr val="C9C9C9"/>
                    </a:solidFill>
                  </a:tcPr>
                </a:tc>
                <a:tc>
                  <a:txBody>
                    <a:bodyPr/>
                    <a:p>
                      <a:pPr algn="ctr" fontAlgn="b"/>
                      <a:r>
                        <a:rPr sz="800" b="0" i="0">
                          <a:solidFill>
                            <a:srgbClr val="000000"/>
                          </a:solidFill>
                          <a:latin typeface="Calibri" panose="020F0502020204030204"/>
                          <a:ea typeface="Calibri" panose="020F0502020204030204"/>
                        </a:rPr>
                        <a:t>Motor A PIN2</a:t>
                      </a:r>
                      <a:endParaRPr sz="800" b="0" i="0">
                        <a:solidFill>
                          <a:srgbClr val="000000"/>
                        </a:solidFill>
                        <a:latin typeface="Calibri" panose="020F0502020204030204"/>
                        <a:ea typeface="Calibri" panose="020F0502020204030204"/>
                      </a:endParaRPr>
                    </a:p>
                  </a:txBody>
                  <a:tcPr marL="9842" marR="9842" marT="9842" marB="0" anchor="b" anchorCtr="0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solidFill>
                      <a:srgbClr val="C9C9C9"/>
                    </a:solidFill>
                  </a:tcPr>
                </a:tc>
                <a:tc>
                  <a:txBody>
                    <a:bodyPr/>
                    <a:p>
                      <a:pPr algn="ctr" fontAlgn="b"/>
                      <a:r>
                        <a:rPr sz="800" b="0" i="0">
                          <a:solidFill>
                            <a:srgbClr val="000000"/>
                          </a:solidFill>
                          <a:latin typeface="Calibri" panose="020F0502020204030204"/>
                          <a:ea typeface="Calibri" panose="020F0502020204030204"/>
                        </a:rPr>
                        <a:t>Use as a digital pin, working with Digital PIN 2</a:t>
                      </a:r>
                      <a:endParaRPr sz="800" b="0" i="0">
                        <a:solidFill>
                          <a:srgbClr val="000000"/>
                        </a:solidFill>
                        <a:latin typeface="Calibri" panose="020F0502020204030204"/>
                        <a:ea typeface="Calibri" panose="020F0502020204030204"/>
                      </a:endParaRPr>
                    </a:p>
                  </a:txBody>
                  <a:tcPr marL="9842" marR="9842" marT="9842" marB="0" anchor="b" anchorCtr="0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solidFill>
                      <a:srgbClr val="C9C9C9"/>
                    </a:solidFill>
                  </a:tcPr>
                </a:tc>
              </a:tr>
              <a:tr h="155575">
                <a:tc>
                  <a:txBody>
                    <a:bodyPr/>
                    <a:p>
                      <a:pPr algn="ctr" fontAlgn="b"/>
                      <a:r>
                        <a:rPr sz="800" b="0" i="0">
                          <a:solidFill>
                            <a:srgbClr val="000000"/>
                          </a:solidFill>
                          <a:latin typeface="Calibri" panose="020F0502020204030204"/>
                          <a:ea typeface="Calibri" panose="020F0502020204030204"/>
                        </a:rPr>
                        <a:t>1</a:t>
                      </a:r>
                      <a:endParaRPr sz="800" b="0" i="0">
                        <a:solidFill>
                          <a:srgbClr val="000000"/>
                        </a:solidFill>
                        <a:latin typeface="Calibri" panose="020F0502020204030204"/>
                        <a:ea typeface="Calibri" panose="020F0502020204030204"/>
                      </a:endParaRPr>
                    </a:p>
                  </a:txBody>
                  <a:tcPr marL="9842" marR="9842" marT="9842" marB="0" anchor="b" anchorCtr="0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solidFill>
                      <a:srgbClr val="C9C9C9"/>
                    </a:solidFill>
                  </a:tcPr>
                </a:tc>
                <a:tc>
                  <a:txBody>
                    <a:bodyPr/>
                    <a:p>
                      <a:pPr algn="ctr" fontAlgn="b"/>
                      <a:r>
                        <a:rPr sz="800" b="0" i="0">
                          <a:solidFill>
                            <a:srgbClr val="000000"/>
                          </a:solidFill>
                          <a:latin typeface="Calibri" panose="020F0502020204030204"/>
                          <a:ea typeface="Calibri" panose="020F0502020204030204"/>
                        </a:rPr>
                        <a:t>Motor B PIN2</a:t>
                      </a:r>
                      <a:endParaRPr sz="800" b="0" i="0">
                        <a:solidFill>
                          <a:srgbClr val="000000"/>
                        </a:solidFill>
                        <a:latin typeface="Calibri" panose="020F0502020204030204"/>
                        <a:ea typeface="Calibri" panose="020F0502020204030204"/>
                      </a:endParaRPr>
                    </a:p>
                  </a:txBody>
                  <a:tcPr marL="9842" marR="9842" marT="9842" marB="0" anchor="b" anchorCtr="0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solidFill>
                      <a:srgbClr val="C9C9C9"/>
                    </a:solidFill>
                  </a:tcPr>
                </a:tc>
                <a:tc>
                  <a:txBody>
                    <a:bodyPr/>
                    <a:p>
                      <a:pPr algn="ctr" fontAlgn="b"/>
                      <a:r>
                        <a:rPr sz="800" b="0" i="0">
                          <a:solidFill>
                            <a:srgbClr val="000000"/>
                          </a:solidFill>
                          <a:latin typeface="Calibri" panose="020F0502020204030204"/>
                          <a:ea typeface="Calibri" panose="020F0502020204030204"/>
                        </a:rPr>
                        <a:t>Use as a digital pin, working with Digital PIN 3</a:t>
                      </a:r>
                      <a:endParaRPr sz="800" b="0" i="0">
                        <a:solidFill>
                          <a:srgbClr val="000000"/>
                        </a:solidFill>
                        <a:latin typeface="Calibri" panose="020F0502020204030204"/>
                        <a:ea typeface="Calibri" panose="020F0502020204030204"/>
                      </a:endParaRPr>
                    </a:p>
                  </a:txBody>
                  <a:tcPr marL="9842" marR="9842" marT="9842" marB="0" anchor="b" anchorCtr="0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solidFill>
                      <a:srgbClr val="C9C9C9"/>
                    </a:solidFill>
                  </a:tcPr>
                </a:tc>
              </a:tr>
              <a:tr h="155575">
                <a:tc>
                  <a:txBody>
                    <a:bodyPr/>
                    <a:p>
                      <a:pPr algn="ctr" fontAlgn="b"/>
                      <a:r>
                        <a:rPr sz="800" b="0" i="0">
                          <a:solidFill>
                            <a:srgbClr val="000000"/>
                          </a:solidFill>
                          <a:latin typeface="Calibri" panose="020F0502020204030204"/>
                          <a:ea typeface="Calibri" panose="020F0502020204030204"/>
                        </a:rPr>
                        <a:t>2</a:t>
                      </a:r>
                      <a:endParaRPr sz="800" b="0" i="0">
                        <a:solidFill>
                          <a:srgbClr val="000000"/>
                        </a:solidFill>
                        <a:latin typeface="Calibri" panose="020F0502020204030204"/>
                        <a:ea typeface="Calibri" panose="020F0502020204030204"/>
                      </a:endParaRPr>
                    </a:p>
                  </a:txBody>
                  <a:tcPr marL="9842" marR="9842" marT="9842" marB="0" anchor="b" anchorCtr="0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tc>
                  <a:txBody>
                    <a:bodyPr/>
                    <a:p>
                      <a:pPr algn="ctr" fontAlgn="b"/>
                      <a:r>
                        <a:rPr sz="800" b="0" i="0">
                          <a:solidFill>
                            <a:srgbClr val="000000"/>
                          </a:solidFill>
                          <a:latin typeface="Calibri" panose="020F0502020204030204"/>
                          <a:ea typeface="Calibri" panose="020F0502020204030204"/>
                        </a:rPr>
                        <a:t>NO Connection</a:t>
                      </a:r>
                      <a:endParaRPr sz="800" b="0" i="0">
                        <a:solidFill>
                          <a:srgbClr val="000000"/>
                        </a:solidFill>
                        <a:latin typeface="Calibri" panose="020F0502020204030204"/>
                        <a:ea typeface="Calibri" panose="020F0502020204030204"/>
                      </a:endParaRPr>
                    </a:p>
                  </a:txBody>
                  <a:tcPr marL="9842" marR="9842" marT="9842" marB="0" anchor="b" anchorCtr="0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tc>
                  <a:txBody>
                    <a:bodyPr/>
                    <a:p>
                      <a:pPr algn="ctr" fontAlgn="b"/>
                      <a:endParaRPr sz="800" b="0" i="0">
                        <a:solidFill>
                          <a:srgbClr val="000000"/>
                        </a:solidFill>
                        <a:latin typeface="Calibri" panose="020F0502020204030204"/>
                        <a:ea typeface="Calibri" panose="020F0502020204030204"/>
                      </a:endParaRPr>
                    </a:p>
                  </a:txBody>
                  <a:tcPr marL="9842" marR="9842" marT="9842" marB="0" anchor="b" anchorCtr="0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</a:tr>
              <a:tr h="155575">
                <a:tc>
                  <a:txBody>
                    <a:bodyPr/>
                    <a:p>
                      <a:pPr algn="ctr" fontAlgn="b"/>
                      <a:r>
                        <a:rPr sz="800" b="0" i="0">
                          <a:solidFill>
                            <a:srgbClr val="000000"/>
                          </a:solidFill>
                          <a:latin typeface="Calibri" panose="020F0502020204030204"/>
                          <a:ea typeface="Calibri" panose="020F0502020204030204"/>
                        </a:rPr>
                        <a:t>3</a:t>
                      </a:r>
                      <a:endParaRPr sz="800" b="0" i="0">
                        <a:solidFill>
                          <a:srgbClr val="000000"/>
                        </a:solidFill>
                        <a:latin typeface="Calibri" panose="020F0502020204030204"/>
                        <a:ea typeface="Calibri" panose="020F0502020204030204"/>
                      </a:endParaRPr>
                    </a:p>
                  </a:txBody>
                  <a:tcPr marL="9842" marR="9842" marT="9842" marB="0" anchor="b" anchorCtr="0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tc>
                  <a:txBody>
                    <a:bodyPr/>
                    <a:p>
                      <a:pPr algn="ctr" fontAlgn="b"/>
                      <a:r>
                        <a:rPr sz="800" b="0" i="0">
                          <a:solidFill>
                            <a:srgbClr val="000000"/>
                          </a:solidFill>
                          <a:latin typeface="Calibri" panose="020F0502020204030204"/>
                          <a:ea typeface="Calibri" panose="020F0502020204030204"/>
                        </a:rPr>
                        <a:t>NO Connection</a:t>
                      </a:r>
                      <a:endParaRPr sz="800" b="0" i="0">
                        <a:solidFill>
                          <a:srgbClr val="000000"/>
                        </a:solidFill>
                        <a:latin typeface="Calibri" panose="020F0502020204030204"/>
                        <a:ea typeface="Calibri" panose="020F0502020204030204"/>
                      </a:endParaRPr>
                    </a:p>
                  </a:txBody>
                  <a:tcPr marL="9842" marR="9842" marT="9842" marB="0" anchor="b" anchorCtr="0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tc>
                  <a:txBody>
                    <a:bodyPr/>
                    <a:p>
                      <a:pPr algn="ctr" fontAlgn="b"/>
                      <a:endParaRPr sz="800" b="0" i="0">
                        <a:solidFill>
                          <a:srgbClr val="000000"/>
                        </a:solidFill>
                        <a:latin typeface="Calibri" panose="020F0502020204030204"/>
                        <a:ea typeface="Calibri" panose="020F0502020204030204"/>
                      </a:endParaRPr>
                    </a:p>
                  </a:txBody>
                  <a:tcPr marL="9842" marR="9842" marT="9842" marB="0" anchor="b" anchorCtr="0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</a:tr>
              <a:tr h="155575">
                <a:tc>
                  <a:txBody>
                    <a:bodyPr/>
                    <a:p>
                      <a:pPr algn="ctr" fontAlgn="b"/>
                      <a:r>
                        <a:rPr sz="800" b="0" i="0">
                          <a:solidFill>
                            <a:srgbClr val="000000"/>
                          </a:solidFill>
                          <a:latin typeface="Calibri" panose="020F0502020204030204"/>
                          <a:ea typeface="Calibri" panose="020F0502020204030204"/>
                        </a:rPr>
                        <a:t>4</a:t>
                      </a:r>
                      <a:endParaRPr sz="800" b="0" i="0">
                        <a:solidFill>
                          <a:srgbClr val="000000"/>
                        </a:solidFill>
                        <a:latin typeface="Calibri" panose="020F0502020204030204"/>
                        <a:ea typeface="Calibri" panose="020F0502020204030204"/>
                      </a:endParaRPr>
                    </a:p>
                  </a:txBody>
                  <a:tcPr marL="9842" marR="9842" marT="9842" marB="0" anchor="b" anchorCtr="0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tc>
                  <a:txBody>
                    <a:bodyPr/>
                    <a:p>
                      <a:pPr algn="ctr" fontAlgn="b"/>
                      <a:r>
                        <a:rPr sz="800" b="0" i="0">
                          <a:solidFill>
                            <a:srgbClr val="000000"/>
                          </a:solidFill>
                          <a:latin typeface="Calibri" panose="020F0502020204030204"/>
                          <a:ea typeface="Calibri" panose="020F0502020204030204"/>
                        </a:rPr>
                        <a:t>NO Connection</a:t>
                      </a:r>
                      <a:endParaRPr sz="800" b="0" i="0">
                        <a:solidFill>
                          <a:srgbClr val="000000"/>
                        </a:solidFill>
                        <a:latin typeface="Calibri" panose="020F0502020204030204"/>
                        <a:ea typeface="Calibri" panose="020F0502020204030204"/>
                      </a:endParaRPr>
                    </a:p>
                  </a:txBody>
                  <a:tcPr marL="9842" marR="9842" marT="9842" marB="0" anchor="b" anchorCtr="0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tc>
                  <a:txBody>
                    <a:bodyPr/>
                    <a:p>
                      <a:pPr algn="ctr" fontAlgn="b"/>
                      <a:endParaRPr sz="800" b="0" i="0">
                        <a:solidFill>
                          <a:srgbClr val="000000"/>
                        </a:solidFill>
                        <a:latin typeface="Calibri" panose="020F0502020204030204"/>
                        <a:ea typeface="Calibri" panose="020F0502020204030204"/>
                      </a:endParaRPr>
                    </a:p>
                  </a:txBody>
                  <a:tcPr marL="9842" marR="9842" marT="9842" marB="0" anchor="b" anchorCtr="0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</a:tr>
              <a:tr h="155575">
                <a:tc>
                  <a:txBody>
                    <a:bodyPr/>
                    <a:p>
                      <a:pPr algn="ctr" fontAlgn="b"/>
                      <a:r>
                        <a:rPr sz="800" b="0" i="0">
                          <a:solidFill>
                            <a:srgbClr val="000000"/>
                          </a:solidFill>
                          <a:latin typeface="Calibri" panose="020F0502020204030204"/>
                          <a:ea typeface="Calibri" panose="020F0502020204030204"/>
                        </a:rPr>
                        <a:t>5</a:t>
                      </a:r>
                      <a:endParaRPr sz="800" b="0" i="0">
                        <a:solidFill>
                          <a:srgbClr val="000000"/>
                        </a:solidFill>
                        <a:latin typeface="Calibri" panose="020F0502020204030204"/>
                        <a:ea typeface="Calibri" panose="020F0502020204030204"/>
                      </a:endParaRPr>
                    </a:p>
                  </a:txBody>
                  <a:tcPr marL="9842" marR="9842" marT="9842" marB="0" anchor="b" anchorCtr="0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tc>
                  <a:txBody>
                    <a:bodyPr/>
                    <a:p>
                      <a:pPr algn="ctr" fontAlgn="b"/>
                      <a:r>
                        <a:rPr sz="800" b="0" i="0">
                          <a:solidFill>
                            <a:srgbClr val="000000"/>
                          </a:solidFill>
                          <a:latin typeface="Calibri" panose="020F0502020204030204"/>
                          <a:ea typeface="Calibri" panose="020F0502020204030204"/>
                        </a:rPr>
                        <a:t>NO Connection</a:t>
                      </a:r>
                      <a:endParaRPr sz="800" b="0" i="0">
                        <a:solidFill>
                          <a:srgbClr val="000000"/>
                        </a:solidFill>
                        <a:latin typeface="Calibri" panose="020F0502020204030204"/>
                        <a:ea typeface="Calibri" panose="020F0502020204030204"/>
                      </a:endParaRPr>
                    </a:p>
                  </a:txBody>
                  <a:tcPr marL="9842" marR="9842" marT="9842" marB="0" anchor="b" anchorCtr="0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tc>
                  <a:txBody>
                    <a:bodyPr/>
                    <a:p>
                      <a:pPr algn="ctr" fontAlgn="b"/>
                      <a:endParaRPr sz="800" b="0" i="0">
                        <a:solidFill>
                          <a:srgbClr val="000000"/>
                        </a:solidFill>
                        <a:latin typeface="Calibri" panose="020F0502020204030204"/>
                        <a:ea typeface="Calibri" panose="020F0502020204030204"/>
                      </a:endParaRPr>
                    </a:p>
                  </a:txBody>
                  <a:tcPr marL="9842" marR="9842" marT="9842" marB="0" anchor="b" anchorCtr="0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</a:tr>
              <a:tr h="155575">
                <a:tc>
                  <a:txBody>
                    <a:bodyPr/>
                    <a:p>
                      <a:pPr algn="ctr" fontAlgn="b"/>
                      <a:endParaRPr sz="800" b="0" i="0">
                        <a:solidFill>
                          <a:srgbClr val="000000"/>
                        </a:solidFill>
                        <a:latin typeface="Calibri" panose="020F0502020204030204"/>
                        <a:ea typeface="Calibri" panose="020F0502020204030204"/>
                      </a:endParaRPr>
                    </a:p>
                  </a:txBody>
                  <a:tcPr marL="9842" marR="9842" marT="9842" marB="0" anchor="b" anchorCtr="0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tc>
                  <a:txBody>
                    <a:bodyPr/>
                    <a:p>
                      <a:pPr algn="ctr" fontAlgn="b"/>
                      <a:endParaRPr sz="800" b="0" i="0">
                        <a:solidFill>
                          <a:srgbClr val="000000"/>
                        </a:solidFill>
                        <a:latin typeface="Calibri" panose="020F0502020204030204"/>
                        <a:ea typeface="Calibri" panose="020F0502020204030204"/>
                      </a:endParaRPr>
                    </a:p>
                  </a:txBody>
                  <a:tcPr marL="9842" marR="9842" marT="9842" marB="0" anchor="b" anchorCtr="0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tc>
                  <a:txBody>
                    <a:bodyPr/>
                    <a:p>
                      <a:pPr algn="ctr" fontAlgn="b"/>
                      <a:endParaRPr sz="800" b="0" i="0">
                        <a:solidFill>
                          <a:srgbClr val="000000"/>
                        </a:solidFill>
                        <a:latin typeface="Calibri" panose="020F0502020204030204"/>
                        <a:ea typeface="Calibri" panose="020F0502020204030204"/>
                      </a:endParaRPr>
                    </a:p>
                  </a:txBody>
                  <a:tcPr marL="9842" marR="9842" marT="9842" marB="0" anchor="b" anchorCtr="0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</a:tr>
              <a:tr h="155575">
                <a:tc>
                  <a:txBody>
                    <a:bodyPr/>
                    <a:p>
                      <a:pPr algn="ctr" fontAlgn="b"/>
                      <a:r>
                        <a:rPr sz="800" b="0" i="0">
                          <a:solidFill>
                            <a:srgbClr val="000000"/>
                          </a:solidFill>
                          <a:latin typeface="Calibri" panose="020F0502020204030204"/>
                          <a:ea typeface="Calibri" panose="020F0502020204030204"/>
                        </a:rPr>
                        <a:t>Other Pin</a:t>
                      </a:r>
                      <a:endParaRPr sz="800" b="0" i="0">
                        <a:solidFill>
                          <a:srgbClr val="000000"/>
                        </a:solidFill>
                        <a:latin typeface="Calibri" panose="020F0502020204030204"/>
                        <a:ea typeface="Calibri" panose="020F0502020204030204"/>
                      </a:endParaRPr>
                    </a:p>
                  </a:txBody>
                  <a:tcPr marL="9842" marR="9842" marT="9842" marB="0" anchor="b" anchorCtr="0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solidFill>
                      <a:srgbClr val="FFFF00"/>
                    </a:solidFill>
                  </a:tcPr>
                </a:tc>
                <a:tc>
                  <a:txBody>
                    <a:bodyPr/>
                    <a:p>
                      <a:pPr algn="ctr" fontAlgn="b"/>
                      <a:endParaRPr sz="800" b="0" i="0">
                        <a:solidFill>
                          <a:srgbClr val="000000"/>
                        </a:solidFill>
                        <a:latin typeface="Calibri" panose="020F0502020204030204"/>
                        <a:ea typeface="Calibri" panose="020F0502020204030204"/>
                      </a:endParaRPr>
                    </a:p>
                  </a:txBody>
                  <a:tcPr marL="9842" marR="9842" marT="9842" marB="0" anchor="b" anchorCtr="0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solidFill>
                      <a:srgbClr val="FFFF00"/>
                    </a:solidFill>
                  </a:tcPr>
                </a:tc>
                <a:tc>
                  <a:txBody>
                    <a:bodyPr/>
                    <a:p>
                      <a:pPr algn="ctr" fontAlgn="b"/>
                      <a:endParaRPr sz="800" b="0" i="0">
                        <a:solidFill>
                          <a:srgbClr val="000000"/>
                        </a:solidFill>
                        <a:latin typeface="Calibri" panose="020F0502020204030204"/>
                        <a:ea typeface="Calibri" panose="020F0502020204030204"/>
                      </a:endParaRPr>
                    </a:p>
                  </a:txBody>
                  <a:tcPr marL="9842" marR="9842" marT="9842" marB="0" anchor="b" anchorCtr="0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solidFill>
                      <a:srgbClr val="FFFF00"/>
                    </a:solidFill>
                  </a:tcPr>
                </a:tc>
              </a:tr>
              <a:tr h="155575">
                <a:tc>
                  <a:txBody>
                    <a:bodyPr/>
                    <a:p>
                      <a:pPr algn="ctr" fontAlgn="b"/>
                      <a:r>
                        <a:rPr sz="800" b="0" i="0">
                          <a:solidFill>
                            <a:srgbClr val="000000"/>
                          </a:solidFill>
                          <a:latin typeface="Calibri" panose="020F0502020204030204"/>
                          <a:ea typeface="Calibri" panose="020F0502020204030204"/>
                        </a:rPr>
                        <a:t>SCL</a:t>
                      </a:r>
                      <a:endParaRPr sz="800" b="0" i="0">
                        <a:solidFill>
                          <a:srgbClr val="000000"/>
                        </a:solidFill>
                        <a:latin typeface="Calibri" panose="020F0502020204030204"/>
                        <a:ea typeface="Calibri" panose="020F0502020204030204"/>
                      </a:endParaRPr>
                    </a:p>
                  </a:txBody>
                  <a:tcPr marL="9842" marR="9842" marT="9842" marB="0" anchor="b" anchorCtr="0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tc>
                  <a:txBody>
                    <a:bodyPr/>
                    <a:p>
                      <a:pPr algn="ctr" fontAlgn="b"/>
                      <a:r>
                        <a:rPr sz="800" b="0" i="0">
                          <a:solidFill>
                            <a:srgbClr val="000000"/>
                          </a:solidFill>
                          <a:latin typeface="Calibri" panose="020F0502020204030204"/>
                          <a:ea typeface="Calibri" panose="020F0502020204030204"/>
                        </a:rPr>
                        <a:t>MPU6050 SCL</a:t>
                      </a:r>
                      <a:endParaRPr sz="800" b="0" i="0">
                        <a:solidFill>
                          <a:srgbClr val="000000"/>
                        </a:solidFill>
                        <a:latin typeface="Calibri" panose="020F0502020204030204"/>
                        <a:ea typeface="Calibri" panose="020F0502020204030204"/>
                      </a:endParaRPr>
                    </a:p>
                  </a:txBody>
                  <a:tcPr marL="9842" marR="9842" marT="9842" marB="0" anchor="b" anchorCtr="0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tc>
                  <a:txBody>
                    <a:bodyPr/>
                    <a:p>
                      <a:pPr algn="ctr" fontAlgn="b"/>
                      <a:endParaRPr sz="800" b="0" i="0">
                        <a:solidFill>
                          <a:srgbClr val="000000"/>
                        </a:solidFill>
                        <a:latin typeface="Calibri" panose="020F0502020204030204"/>
                        <a:ea typeface="Calibri" panose="020F0502020204030204"/>
                      </a:endParaRPr>
                    </a:p>
                  </a:txBody>
                  <a:tcPr marL="9842" marR="9842" marT="9842" marB="0" anchor="b" anchorCtr="0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</a:tr>
              <a:tr h="155575">
                <a:tc>
                  <a:txBody>
                    <a:bodyPr/>
                    <a:p>
                      <a:pPr algn="ctr" fontAlgn="b"/>
                      <a:r>
                        <a:rPr sz="800" b="0" i="0">
                          <a:solidFill>
                            <a:srgbClr val="000000"/>
                          </a:solidFill>
                          <a:latin typeface="Calibri" panose="020F0502020204030204"/>
                          <a:ea typeface="Calibri" panose="020F0502020204030204"/>
                        </a:rPr>
                        <a:t>SDA</a:t>
                      </a:r>
                      <a:endParaRPr sz="800" b="0" i="0">
                        <a:solidFill>
                          <a:srgbClr val="000000"/>
                        </a:solidFill>
                        <a:latin typeface="Calibri" panose="020F0502020204030204"/>
                        <a:ea typeface="Calibri" panose="020F0502020204030204"/>
                      </a:endParaRPr>
                    </a:p>
                  </a:txBody>
                  <a:tcPr marL="9842" marR="9842" marT="9842" marB="0" anchor="b" anchorCtr="0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tc>
                  <a:txBody>
                    <a:bodyPr/>
                    <a:p>
                      <a:pPr algn="ctr" fontAlgn="b"/>
                      <a:r>
                        <a:rPr sz="800" b="0" i="0">
                          <a:solidFill>
                            <a:srgbClr val="000000"/>
                          </a:solidFill>
                          <a:latin typeface="Calibri" panose="020F0502020204030204"/>
                          <a:ea typeface="Calibri" panose="020F0502020204030204"/>
                        </a:rPr>
                        <a:t>MPU6050 SDA</a:t>
                      </a:r>
                      <a:endParaRPr sz="800" b="0" i="0">
                        <a:solidFill>
                          <a:srgbClr val="000000"/>
                        </a:solidFill>
                        <a:latin typeface="Calibri" panose="020F0502020204030204"/>
                        <a:ea typeface="Calibri" panose="020F0502020204030204"/>
                      </a:endParaRPr>
                    </a:p>
                  </a:txBody>
                  <a:tcPr marL="9842" marR="9842" marT="9842" marB="0" anchor="b" anchorCtr="0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tc>
                  <a:txBody>
                    <a:bodyPr/>
                    <a:p>
                      <a:pPr algn="ctr" fontAlgn="b"/>
                      <a:endParaRPr sz="800" b="0" i="0">
                        <a:solidFill>
                          <a:srgbClr val="000000"/>
                        </a:solidFill>
                        <a:latin typeface="Calibri" panose="020F0502020204030204"/>
                        <a:ea typeface="Calibri" panose="020F0502020204030204"/>
                      </a:endParaRPr>
                    </a:p>
                  </a:txBody>
                  <a:tcPr marL="9842" marR="9842" marT="9842" marB="0" anchor="b" anchorCtr="0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</a:tr>
              <a:tr h="155575">
                <a:tc>
                  <a:txBody>
                    <a:bodyPr/>
                    <a:p>
                      <a:pPr algn="ctr" fontAlgn="b"/>
                      <a:r>
                        <a:rPr sz="800" b="0" i="0">
                          <a:solidFill>
                            <a:srgbClr val="000000"/>
                          </a:solidFill>
                          <a:latin typeface="Calibri" panose="020F0502020204030204"/>
                          <a:ea typeface="Calibri" panose="020F0502020204030204"/>
                        </a:rPr>
                        <a:t>AREF</a:t>
                      </a:r>
                      <a:endParaRPr sz="800" b="0" i="0">
                        <a:solidFill>
                          <a:srgbClr val="000000"/>
                        </a:solidFill>
                        <a:latin typeface="Calibri" panose="020F0502020204030204"/>
                        <a:ea typeface="Calibri" panose="020F0502020204030204"/>
                      </a:endParaRPr>
                    </a:p>
                  </a:txBody>
                  <a:tcPr marL="9842" marR="9842" marT="9842" marB="0" anchor="b" anchorCtr="0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tc>
                  <a:txBody>
                    <a:bodyPr/>
                    <a:p>
                      <a:pPr algn="ctr" fontAlgn="b"/>
                      <a:r>
                        <a:rPr sz="800" b="0" i="0">
                          <a:solidFill>
                            <a:srgbClr val="000000"/>
                          </a:solidFill>
                          <a:latin typeface="Calibri" panose="020F0502020204030204"/>
                          <a:ea typeface="Calibri" panose="020F0502020204030204"/>
                        </a:rPr>
                        <a:t>NO Connection</a:t>
                      </a:r>
                      <a:endParaRPr sz="800" b="0" i="0">
                        <a:solidFill>
                          <a:srgbClr val="000000"/>
                        </a:solidFill>
                        <a:latin typeface="Calibri" panose="020F0502020204030204"/>
                        <a:ea typeface="Calibri" panose="020F0502020204030204"/>
                      </a:endParaRPr>
                    </a:p>
                  </a:txBody>
                  <a:tcPr marL="9842" marR="9842" marT="9842" marB="0" anchor="b" anchorCtr="0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tc>
                  <a:txBody>
                    <a:bodyPr/>
                    <a:p>
                      <a:pPr algn="ctr" fontAlgn="b"/>
                      <a:endParaRPr sz="800" b="0" i="0">
                        <a:solidFill>
                          <a:srgbClr val="000000"/>
                        </a:solidFill>
                        <a:latin typeface="Calibri" panose="020F0502020204030204"/>
                        <a:ea typeface="Calibri" panose="020F0502020204030204"/>
                      </a:endParaRPr>
                    </a:p>
                  </a:txBody>
                  <a:tcPr marL="9842" marR="9842" marT="9842" marB="0" anchor="b" anchorCtr="0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</a:tr>
              <a:tr h="155575">
                <a:tc>
                  <a:txBody>
                    <a:bodyPr/>
                    <a:p>
                      <a:pPr algn="ctr" fontAlgn="b"/>
                      <a:r>
                        <a:rPr sz="800" b="0" i="0">
                          <a:solidFill>
                            <a:srgbClr val="000000"/>
                          </a:solidFill>
                          <a:latin typeface="Calibri" panose="020F0502020204030204"/>
                          <a:ea typeface="Calibri" panose="020F0502020204030204"/>
                        </a:rPr>
                        <a:t>IOREF</a:t>
                      </a:r>
                      <a:endParaRPr sz="800" b="0" i="0">
                        <a:solidFill>
                          <a:srgbClr val="000000"/>
                        </a:solidFill>
                        <a:latin typeface="Calibri" panose="020F0502020204030204"/>
                        <a:ea typeface="Calibri" panose="020F0502020204030204"/>
                      </a:endParaRPr>
                    </a:p>
                  </a:txBody>
                  <a:tcPr marL="9842" marR="9842" marT="9842" marB="0" anchor="b" anchorCtr="0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tc>
                  <a:txBody>
                    <a:bodyPr/>
                    <a:p>
                      <a:pPr algn="ctr" fontAlgn="b"/>
                      <a:r>
                        <a:rPr sz="800" b="0" i="0">
                          <a:solidFill>
                            <a:srgbClr val="000000"/>
                          </a:solidFill>
                          <a:latin typeface="Calibri" panose="020F0502020204030204"/>
                          <a:ea typeface="Calibri" panose="020F0502020204030204"/>
                        </a:rPr>
                        <a:t>NO Connection</a:t>
                      </a:r>
                      <a:endParaRPr sz="800" b="0" i="0">
                        <a:solidFill>
                          <a:srgbClr val="000000"/>
                        </a:solidFill>
                        <a:latin typeface="Calibri" panose="020F0502020204030204"/>
                        <a:ea typeface="Calibri" panose="020F0502020204030204"/>
                      </a:endParaRPr>
                    </a:p>
                  </a:txBody>
                  <a:tcPr marL="9842" marR="9842" marT="9842" marB="0" anchor="b" anchorCtr="0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tc>
                  <a:txBody>
                    <a:bodyPr/>
                    <a:p>
                      <a:pPr algn="ctr" fontAlgn="b"/>
                      <a:endParaRPr sz="800" b="0" i="0">
                        <a:solidFill>
                          <a:srgbClr val="000000"/>
                        </a:solidFill>
                        <a:latin typeface="Calibri" panose="020F0502020204030204"/>
                        <a:ea typeface="Calibri" panose="020F0502020204030204"/>
                      </a:endParaRPr>
                    </a:p>
                  </a:txBody>
                  <a:tcPr marL="9842" marR="9842" marT="9842" marB="0" anchor="b" anchorCtr="0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</a:tr>
              <a:tr h="155575">
                <a:tc>
                  <a:txBody>
                    <a:bodyPr/>
                    <a:p>
                      <a:pPr algn="ctr" fontAlgn="b"/>
                      <a:r>
                        <a:rPr sz="800" b="0" i="0">
                          <a:solidFill>
                            <a:srgbClr val="000000"/>
                          </a:solidFill>
                          <a:latin typeface="Calibri" panose="020F0502020204030204"/>
                          <a:ea typeface="Calibri" panose="020F0502020204030204"/>
                        </a:rPr>
                        <a:t>RESET</a:t>
                      </a:r>
                      <a:endParaRPr sz="800" b="0" i="0">
                        <a:solidFill>
                          <a:srgbClr val="000000"/>
                        </a:solidFill>
                        <a:latin typeface="Calibri" panose="020F0502020204030204"/>
                        <a:ea typeface="Calibri" panose="020F0502020204030204"/>
                      </a:endParaRPr>
                    </a:p>
                  </a:txBody>
                  <a:tcPr marL="9842" marR="9842" marT="9842" marB="0" anchor="b" anchorCtr="0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tc>
                  <a:txBody>
                    <a:bodyPr/>
                    <a:p>
                      <a:pPr algn="ctr" fontAlgn="b"/>
                      <a:r>
                        <a:rPr sz="800" b="0" i="0">
                          <a:solidFill>
                            <a:srgbClr val="000000"/>
                          </a:solidFill>
                          <a:latin typeface="Calibri" panose="020F0502020204030204"/>
                          <a:ea typeface="Calibri" panose="020F0502020204030204"/>
                        </a:rPr>
                        <a:t>NO Connection</a:t>
                      </a:r>
                      <a:endParaRPr sz="800" b="0" i="0">
                        <a:solidFill>
                          <a:srgbClr val="000000"/>
                        </a:solidFill>
                        <a:latin typeface="Calibri" panose="020F0502020204030204"/>
                        <a:ea typeface="Calibri" panose="020F0502020204030204"/>
                      </a:endParaRPr>
                    </a:p>
                  </a:txBody>
                  <a:tcPr marL="9842" marR="9842" marT="9842" marB="0" anchor="b" anchorCtr="0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tc>
                  <a:txBody>
                    <a:bodyPr/>
                    <a:p>
                      <a:pPr algn="ctr" fontAlgn="b"/>
                      <a:endParaRPr sz="800" b="0" i="0">
                        <a:solidFill>
                          <a:srgbClr val="000000"/>
                        </a:solidFill>
                        <a:latin typeface="Calibri" panose="020F0502020204030204"/>
                        <a:ea typeface="Calibri" panose="020F0502020204030204"/>
                      </a:endParaRPr>
                    </a:p>
                  </a:txBody>
                  <a:tcPr marL="9842" marR="9842" marT="9842" marB="0" anchor="b" anchorCtr="0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</a:tr>
              <a:tr h="155575">
                <a:tc>
                  <a:txBody>
                    <a:bodyPr/>
                    <a:p>
                      <a:pPr algn="ctr" fontAlgn="b"/>
                      <a:r>
                        <a:rPr sz="800" b="0" i="0">
                          <a:solidFill>
                            <a:srgbClr val="000000"/>
                          </a:solidFill>
                          <a:latin typeface="Calibri" panose="020F0502020204030204"/>
                          <a:ea typeface="Calibri" panose="020F0502020204030204"/>
                        </a:rPr>
                        <a:t>3.3V</a:t>
                      </a:r>
                      <a:endParaRPr sz="800" b="0" i="0">
                        <a:solidFill>
                          <a:srgbClr val="000000"/>
                        </a:solidFill>
                        <a:latin typeface="Calibri" panose="020F0502020204030204"/>
                        <a:ea typeface="Calibri" panose="020F0502020204030204"/>
                      </a:endParaRPr>
                    </a:p>
                  </a:txBody>
                  <a:tcPr marL="9842" marR="9842" marT="9842" marB="0" anchor="b" anchorCtr="0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tc>
                  <a:txBody>
                    <a:bodyPr/>
                    <a:p>
                      <a:pPr algn="ctr" fontAlgn="b"/>
                      <a:r>
                        <a:rPr sz="800" b="0" i="0">
                          <a:solidFill>
                            <a:srgbClr val="000000"/>
                          </a:solidFill>
                          <a:latin typeface="Calibri" panose="020F0502020204030204"/>
                          <a:ea typeface="Calibri" panose="020F0502020204030204"/>
                        </a:rPr>
                        <a:t>NO Connection</a:t>
                      </a:r>
                      <a:endParaRPr sz="800" b="0" i="0">
                        <a:solidFill>
                          <a:srgbClr val="000000"/>
                        </a:solidFill>
                        <a:latin typeface="Calibri" panose="020F0502020204030204"/>
                        <a:ea typeface="Calibri" panose="020F0502020204030204"/>
                      </a:endParaRPr>
                    </a:p>
                  </a:txBody>
                  <a:tcPr marL="9842" marR="9842" marT="9842" marB="0" anchor="b" anchorCtr="0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tc>
                  <a:txBody>
                    <a:bodyPr/>
                    <a:p>
                      <a:pPr algn="ctr" fontAlgn="b"/>
                      <a:endParaRPr sz="800" b="0" i="0">
                        <a:solidFill>
                          <a:srgbClr val="000000"/>
                        </a:solidFill>
                        <a:latin typeface="Calibri" panose="020F0502020204030204"/>
                        <a:ea typeface="Calibri" panose="020F0502020204030204"/>
                      </a:endParaRPr>
                    </a:p>
                  </a:txBody>
                  <a:tcPr marL="9842" marR="9842" marT="9842" marB="0" anchor="b" anchorCtr="0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</a:tr>
              <a:tr h="155575">
                <a:tc>
                  <a:txBody>
                    <a:bodyPr/>
                    <a:p>
                      <a:pPr algn="ctr" fontAlgn="b"/>
                      <a:r>
                        <a:rPr sz="800" b="0" i="0">
                          <a:solidFill>
                            <a:srgbClr val="000000"/>
                          </a:solidFill>
                          <a:latin typeface="Calibri" panose="020F0502020204030204"/>
                          <a:ea typeface="Calibri" panose="020F0502020204030204"/>
                        </a:rPr>
                        <a:t>5V</a:t>
                      </a:r>
                      <a:endParaRPr sz="800" b="0" i="0">
                        <a:solidFill>
                          <a:srgbClr val="000000"/>
                        </a:solidFill>
                        <a:latin typeface="Calibri" panose="020F0502020204030204"/>
                        <a:ea typeface="Calibri" panose="020F0502020204030204"/>
                      </a:endParaRPr>
                    </a:p>
                  </a:txBody>
                  <a:tcPr marL="9842" marR="9842" marT="9842" marB="0" anchor="b" anchorCtr="0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tc>
                  <a:txBody>
                    <a:bodyPr/>
                    <a:p>
                      <a:pPr algn="ctr" fontAlgn="b"/>
                      <a:r>
                        <a:rPr sz="800" b="0" i="0">
                          <a:solidFill>
                            <a:srgbClr val="000000"/>
                          </a:solidFill>
                          <a:latin typeface="Calibri" panose="020F0502020204030204"/>
                          <a:ea typeface="Calibri" panose="020F0502020204030204"/>
                        </a:rPr>
                        <a:t>VCC/TB6612 STBY</a:t>
                      </a:r>
                      <a:endParaRPr sz="800" b="0" i="0">
                        <a:solidFill>
                          <a:srgbClr val="000000"/>
                        </a:solidFill>
                        <a:latin typeface="Calibri" panose="020F0502020204030204"/>
                        <a:ea typeface="Calibri" panose="020F0502020204030204"/>
                      </a:endParaRPr>
                    </a:p>
                  </a:txBody>
                  <a:tcPr marL="9842" marR="9842" marT="9842" marB="0" anchor="b" anchorCtr="0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tc>
                  <a:txBody>
                    <a:bodyPr/>
                    <a:p>
                      <a:pPr algn="ctr" fontAlgn="b"/>
                      <a:endParaRPr sz="800" b="0" i="0">
                        <a:solidFill>
                          <a:srgbClr val="000000"/>
                        </a:solidFill>
                        <a:latin typeface="Calibri" panose="020F0502020204030204"/>
                        <a:ea typeface="Calibri" panose="020F0502020204030204"/>
                      </a:endParaRPr>
                    </a:p>
                  </a:txBody>
                  <a:tcPr marL="9842" marR="9842" marT="9842" marB="0" anchor="b" anchorCtr="0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</a:tr>
              <a:tr h="155575">
                <a:tc>
                  <a:txBody>
                    <a:bodyPr/>
                    <a:p>
                      <a:pPr algn="ctr" fontAlgn="b"/>
                      <a:r>
                        <a:rPr sz="800" b="0" i="0">
                          <a:solidFill>
                            <a:srgbClr val="000000"/>
                          </a:solidFill>
                          <a:latin typeface="Calibri" panose="020F0502020204030204"/>
                          <a:ea typeface="Calibri" panose="020F0502020204030204"/>
                        </a:rPr>
                        <a:t>Vin</a:t>
                      </a:r>
                      <a:endParaRPr sz="800" b="0" i="0">
                        <a:solidFill>
                          <a:srgbClr val="000000"/>
                        </a:solidFill>
                        <a:latin typeface="Calibri" panose="020F0502020204030204"/>
                        <a:ea typeface="Calibri" panose="020F0502020204030204"/>
                      </a:endParaRPr>
                    </a:p>
                  </a:txBody>
                  <a:tcPr marL="9842" marR="9842" marT="9842" marB="0" anchor="b" anchorCtr="0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tc>
                  <a:txBody>
                    <a:bodyPr/>
                    <a:p>
                      <a:pPr algn="ctr" fontAlgn="b"/>
                      <a:r>
                        <a:rPr sz="800" b="0" i="0">
                          <a:solidFill>
                            <a:srgbClr val="000000"/>
                          </a:solidFill>
                          <a:latin typeface="Calibri" panose="020F0502020204030204"/>
                          <a:ea typeface="Calibri" panose="020F0502020204030204"/>
                        </a:rPr>
                        <a:t>LM2596S OUT+</a:t>
                      </a:r>
                      <a:endParaRPr sz="800" b="0" i="0">
                        <a:solidFill>
                          <a:srgbClr val="000000"/>
                        </a:solidFill>
                        <a:latin typeface="Calibri" panose="020F0502020204030204"/>
                        <a:ea typeface="Calibri" panose="020F0502020204030204"/>
                      </a:endParaRPr>
                    </a:p>
                  </a:txBody>
                  <a:tcPr marL="9842" marR="9842" marT="9842" marB="0" anchor="b" anchorCtr="0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tc>
                  <a:txBody>
                    <a:bodyPr/>
                    <a:p>
                      <a:pPr algn="ctr" fontAlgn="b"/>
                      <a:endParaRPr sz="800" b="0" i="0">
                        <a:solidFill>
                          <a:srgbClr val="000000"/>
                        </a:solidFill>
                        <a:latin typeface="Calibri" panose="020F0502020204030204"/>
                        <a:ea typeface="Calibri" panose="020F0502020204030204"/>
                      </a:endParaRPr>
                    </a:p>
                  </a:txBody>
                  <a:tcPr marL="9842" marR="9842" marT="9842" marB="0" anchor="b" anchorCtr="0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</a:tr>
              <a:tr h="155575">
                <a:tc>
                  <a:txBody>
                    <a:bodyPr/>
                    <a:p>
                      <a:pPr algn="ctr" fontAlgn="b"/>
                      <a:r>
                        <a:rPr sz="800" b="0" i="0">
                          <a:solidFill>
                            <a:srgbClr val="000000"/>
                          </a:solidFill>
                          <a:latin typeface="Calibri" panose="020F0502020204030204"/>
                          <a:ea typeface="Calibri" panose="020F0502020204030204"/>
                        </a:rPr>
                        <a:t>GND</a:t>
                      </a:r>
                      <a:endParaRPr sz="800" b="0" i="0">
                        <a:solidFill>
                          <a:srgbClr val="000000"/>
                        </a:solidFill>
                        <a:latin typeface="Calibri" panose="020F0502020204030204"/>
                        <a:ea typeface="Calibri" panose="020F0502020204030204"/>
                      </a:endParaRPr>
                    </a:p>
                  </a:txBody>
                  <a:tcPr marL="9842" marR="9842" marT="9842" marB="0" anchor="b" anchorCtr="0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tc>
                  <a:txBody>
                    <a:bodyPr/>
                    <a:p>
                      <a:pPr algn="ctr" fontAlgn="b"/>
                      <a:r>
                        <a:rPr sz="800" b="0" i="0">
                          <a:solidFill>
                            <a:srgbClr val="000000"/>
                          </a:solidFill>
                          <a:latin typeface="Calibri" panose="020F0502020204030204"/>
                          <a:ea typeface="Calibri" panose="020F0502020204030204"/>
                        </a:rPr>
                        <a:t>GND</a:t>
                      </a:r>
                      <a:endParaRPr sz="800" b="0" i="0">
                        <a:solidFill>
                          <a:srgbClr val="000000"/>
                        </a:solidFill>
                        <a:latin typeface="Calibri" panose="020F0502020204030204"/>
                        <a:ea typeface="Calibri" panose="020F0502020204030204"/>
                      </a:endParaRPr>
                    </a:p>
                  </a:txBody>
                  <a:tcPr marL="9842" marR="9842" marT="9842" marB="0" anchor="b" anchorCtr="0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tc>
                  <a:txBody>
                    <a:bodyPr/>
                    <a:p>
                      <a:pPr algn="ctr" fontAlgn="b"/>
                      <a:endParaRPr sz="800" b="0" i="0">
                        <a:solidFill>
                          <a:srgbClr val="000000"/>
                        </a:solidFill>
                        <a:latin typeface="Calibri" panose="020F0502020204030204"/>
                        <a:ea typeface="Calibri" panose="020F0502020204030204"/>
                      </a:endParaRPr>
                    </a:p>
                  </a:txBody>
                  <a:tcPr marL="9842" marR="9842" marT="9842" marB="0" anchor="b" anchorCtr="0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</a:tr>
            </a:tbl>
          </a:graphicData>
        </a:graphic>
      </p:graphicFrame>
      <p:pic>
        <p:nvPicPr>
          <p:cNvPr id="5" name="Picture 4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4988560" y="1810385"/>
            <a:ext cx="7120255" cy="3574415"/>
          </a:xfrm>
          <a:prstGeom prst="rect">
            <a:avLst/>
          </a:prstGeom>
        </p:spPr>
      </p:pic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p>
            <a:r>
              <a:rPr lang="en-US" altLang="en-GB"/>
              <a:t>Gantt C</a:t>
            </a:r>
            <a:r>
              <a:rPr lang="en-US" altLang="en-GB"/>
              <a:t>hart</a:t>
            </a:r>
            <a:endParaRPr lang="en-US" altLang="en-GB"/>
          </a:p>
        </p:txBody>
      </p:sp>
      <p:pic>
        <p:nvPicPr>
          <p:cNvPr id="4" name="Content Placeholder 3"/>
          <p:cNvPicPr>
            <a:picLocks noChangeAspect="1"/>
          </p:cNvPicPr>
          <p:nvPr>
            <p:ph idx="1"/>
          </p:nvPr>
        </p:nvPicPr>
        <p:blipFill>
          <a:blip r:embed="rId1"/>
          <a:stretch>
            <a:fillRect/>
          </a:stretch>
        </p:blipFill>
        <p:spPr>
          <a:xfrm>
            <a:off x="838200" y="2071370"/>
            <a:ext cx="10321290" cy="3787775"/>
          </a:xfrm>
          <a:prstGeom prst="rect">
            <a:avLst/>
          </a:prstGeom>
        </p:spPr>
      </p:pic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p>
            <a:r>
              <a:rPr lang="en-US" altLang="en-GB"/>
              <a:t>Future </a:t>
            </a:r>
            <a:r>
              <a:rPr lang="en-US" altLang="en-GB"/>
              <a:t>works</a:t>
            </a:r>
            <a:endParaRPr lang="en-US" altLang="en-GB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>
            <a:normAutofit lnSpcReduction="20000"/>
          </a:bodyPr>
          <a:p>
            <a:r>
              <a:rPr lang="en-US" altLang="en-GB"/>
              <a:t>1. PID Control Optimization and Adaptive Tuning</a:t>
            </a:r>
            <a:endParaRPr lang="en-US" altLang="en-GB"/>
          </a:p>
          <a:p>
            <a:endParaRPr lang="en-US" altLang="en-GB"/>
          </a:p>
          <a:p>
            <a:r>
              <a:rPr lang="en-US" altLang="en-GB"/>
              <a:t>2. Obstacle Avoidance&amp; path planning(if have time)</a:t>
            </a:r>
            <a:endParaRPr lang="en-US" altLang="en-GB"/>
          </a:p>
          <a:p>
            <a:endParaRPr lang="en-US" altLang="en-GB"/>
          </a:p>
          <a:p>
            <a:r>
              <a:rPr lang="en-US" altLang="zh-CN"/>
              <a:t>3. </a:t>
            </a:r>
            <a:r>
              <a:rPr lang="en-US" altLang="en-GB"/>
              <a:t>Data Visualization(if have time)</a:t>
            </a:r>
            <a:endParaRPr lang="en-US" altLang="en-GB"/>
          </a:p>
          <a:p>
            <a:endParaRPr lang="en-US" altLang="en-GB"/>
          </a:p>
          <a:p>
            <a:r>
              <a:rPr lang="en-US" altLang="en-GB"/>
              <a:t>4.Hardware Upgrade(Arduino uno may not enough)</a:t>
            </a:r>
            <a:endParaRPr lang="en-US" altLang="en-GB"/>
          </a:p>
          <a:p>
            <a:endParaRPr lang="en-US" altLang="en-GB"/>
          </a:p>
          <a:p>
            <a:r>
              <a:rPr lang="en-US" altLang="en-GB"/>
              <a:t>5. Engineering and Application Expansion: The platform can be extended into a small-scale delivery or transport robot</a:t>
            </a:r>
            <a:endParaRPr lang="en-US" altLang="en-GB"/>
          </a:p>
        </p:txBody>
      </p:sp>
    </p:spTree>
  </p:cSld>
  <p:clrMapOvr>
    <a:masterClrMapping/>
  </p:clrMapOvr>
</p:sld>
</file>

<file path=ppt/tags/tag1.xml><?xml version="1.0" encoding="utf-8"?>
<p:tagLst xmlns:p="http://schemas.openxmlformats.org/presentationml/2006/main">
  <p:tag name="TABLE_ENDDRAG_ORIGIN_RECT" val="334*416"/>
  <p:tag name="TABLE_ENDDRAG_RECT" val="45*101*334*416"/>
</p:tagLst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5B9BD5"/>
      </a:accent1>
      <a:accent2>
        <a:srgbClr val="ED7D31"/>
      </a:accent2>
      <a:accent3>
        <a:srgbClr val="A5A5A5"/>
      </a:accent3>
      <a:accent4>
        <a:srgbClr val="FFC000"/>
      </a:accent4>
      <a:accent5>
        <a:srgbClr val="4472C4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2475</Words>
  <Application>WPS Presentation</Application>
  <PresentationFormat>Widescreen</PresentationFormat>
  <Paragraphs>247</Paragraphs>
  <Slides>9</Slides>
  <Notes>0</Notes>
  <HiddenSlides>0</HiddenSlides>
  <MMClips>0</MMClips>
  <ScaleCrop>false</ScaleCrop>
  <HeadingPairs>
    <vt:vector size="6" baseType="variant">
      <vt:variant>
        <vt:lpstr>已用的字体</vt:lpstr>
      </vt:variant>
      <vt:variant>
        <vt:i4>9</vt:i4>
      </vt:variant>
      <vt:variant>
        <vt:lpstr>主题</vt:lpstr>
      </vt:variant>
      <vt:variant>
        <vt:i4>1</vt:i4>
      </vt:variant>
      <vt:variant>
        <vt:lpstr>幻灯片标题</vt:lpstr>
      </vt:variant>
      <vt:variant>
        <vt:i4>9</vt:i4>
      </vt:variant>
    </vt:vector>
  </HeadingPairs>
  <TitlesOfParts>
    <vt:vector size="19" baseType="lpstr">
      <vt:lpstr>Arial</vt:lpstr>
      <vt:lpstr>SimSun</vt:lpstr>
      <vt:lpstr>Wingdings</vt:lpstr>
      <vt:lpstr>Calibri Light</vt:lpstr>
      <vt:lpstr>Calibri</vt:lpstr>
      <vt:lpstr>Microsoft YaHei</vt:lpstr>
      <vt:lpstr>Arial Unicode MS</vt:lpstr>
      <vt:lpstr>Times New Roman</vt:lpstr>
      <vt:lpstr>Calibri</vt:lpstr>
      <vt:lpstr>Office Theme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</vt:vector>
  </TitlesOfParts>
  <LinksUpToDate>false</LinksUpToDate>
  <SharedDoc>false</SharedDoc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WPS Presentation</dc:title>
  <dc:creator/>
  <cp:lastModifiedBy>Nanaa ndb</cp:lastModifiedBy>
  <cp:revision>11</cp:revision>
  <dcterms:created xsi:type="dcterms:W3CDTF">2025-07-23T00:59:00Z</dcterms:created>
  <dcterms:modified xsi:type="dcterms:W3CDTF">2025-11-04T18:27:52Z</dcterms:modified>
</cp:coreProperties>
</file>

<file path=docProps/custom.xml><?xml version="1.0" encoding="utf-8"?>
<Properties xmlns="http://schemas.openxmlformats.org/officeDocument/2006/custom-properties" xmlns:vt="http://schemas.openxmlformats.org/officeDocument/2006/docPropsVTypes">
  <property fmtid="{D5CDD505-2E9C-101B-9397-08002B2CF9AE}" pid="2" name="ICV">
    <vt:lpwstr>53D98EA922644B478A13410A32A3BB50_13</vt:lpwstr>
  </property>
  <property fmtid="{D5CDD505-2E9C-101B-9397-08002B2CF9AE}" pid="3" name="KSOProductBuildVer">
    <vt:lpwstr>2057-12.2.0.23131</vt:lpwstr>
  </property>
</Properties>
</file>